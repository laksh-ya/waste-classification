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60" r:id="rId5"/>
    <p:sldId id="265" r:id="rId6"/>
    <p:sldId id="263" r:id="rId7"/>
    <p:sldId id="267" r:id="rId8"/>
    <p:sldId id="269" r:id="rId9"/>
    <p:sldId id="268" r:id="rId10"/>
    <p:sldId id="271" r:id="rId11"/>
    <p:sldId id="270" r:id="rId12"/>
    <p:sldId id="272" r:id="rId13"/>
    <p:sldId id="266" r:id="rId14"/>
    <p:sldId id="262"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F853B84-3D47-4C8D-978D-4F3957BCCF8F}" v="10" dt="2025-11-11T12:36:06.62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80" d="100"/>
          <a:sy n="80" d="100"/>
        </p:scale>
        <p:origin x="754" y="-2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45254B-FAD2-996C-A9EA-F1149EC3BC8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DB26CBD-AA40-0967-975B-D1F639E573F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E0C67AE-5685-B88C-7B07-6CE8ACD8A5D6}"/>
              </a:ext>
            </a:extLst>
          </p:cNvPr>
          <p:cNvSpPr>
            <a:spLocks noGrp="1"/>
          </p:cNvSpPr>
          <p:nvPr>
            <p:ph type="dt" sz="half" idx="10"/>
          </p:nvPr>
        </p:nvSpPr>
        <p:spPr/>
        <p:txBody>
          <a:bodyPr/>
          <a:lstStyle/>
          <a:p>
            <a:fld id="{C155630A-DCD4-4FD2-9D2E-0D8CB4B520BC}" type="datetimeFigureOut">
              <a:rPr lang="en-IN" smtClean="0"/>
              <a:t>19-11-2025</a:t>
            </a:fld>
            <a:endParaRPr lang="en-IN"/>
          </a:p>
        </p:txBody>
      </p:sp>
      <p:sp>
        <p:nvSpPr>
          <p:cNvPr id="5" name="Footer Placeholder 4">
            <a:extLst>
              <a:ext uri="{FF2B5EF4-FFF2-40B4-BE49-F238E27FC236}">
                <a16:creationId xmlns:a16="http://schemas.microsoft.com/office/drawing/2014/main" id="{206697BF-BC80-AD66-9178-72873B2948D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2EAE573-1B66-1FFF-204E-37F29A9857F0}"/>
              </a:ext>
            </a:extLst>
          </p:cNvPr>
          <p:cNvSpPr>
            <a:spLocks noGrp="1"/>
          </p:cNvSpPr>
          <p:nvPr>
            <p:ph type="sldNum" sz="quarter" idx="12"/>
          </p:nvPr>
        </p:nvSpPr>
        <p:spPr/>
        <p:txBody>
          <a:bodyPr/>
          <a:lstStyle/>
          <a:p>
            <a:fld id="{988EC3C7-54A1-41BE-922A-AADB9ADE9A6E}" type="slidenum">
              <a:rPr lang="en-IN" smtClean="0"/>
              <a:t>‹#›</a:t>
            </a:fld>
            <a:endParaRPr lang="en-IN"/>
          </a:p>
        </p:txBody>
      </p:sp>
    </p:spTree>
    <p:extLst>
      <p:ext uri="{BB962C8B-B14F-4D97-AF65-F5344CB8AC3E}">
        <p14:creationId xmlns:p14="http://schemas.microsoft.com/office/powerpoint/2010/main" val="2908347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9E8D6F-A45A-22C8-2F1D-AC5295E7AD5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36C50EB-7F1A-3BBB-2810-AFCC853933C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94D8BA3-9822-749E-1EC0-1A39D813B184}"/>
              </a:ext>
            </a:extLst>
          </p:cNvPr>
          <p:cNvSpPr>
            <a:spLocks noGrp="1"/>
          </p:cNvSpPr>
          <p:nvPr>
            <p:ph type="dt" sz="half" idx="10"/>
          </p:nvPr>
        </p:nvSpPr>
        <p:spPr/>
        <p:txBody>
          <a:bodyPr/>
          <a:lstStyle/>
          <a:p>
            <a:fld id="{C155630A-DCD4-4FD2-9D2E-0D8CB4B520BC}" type="datetimeFigureOut">
              <a:rPr lang="en-IN" smtClean="0"/>
              <a:t>19-11-2025</a:t>
            </a:fld>
            <a:endParaRPr lang="en-IN"/>
          </a:p>
        </p:txBody>
      </p:sp>
      <p:sp>
        <p:nvSpPr>
          <p:cNvPr id="5" name="Footer Placeholder 4">
            <a:extLst>
              <a:ext uri="{FF2B5EF4-FFF2-40B4-BE49-F238E27FC236}">
                <a16:creationId xmlns:a16="http://schemas.microsoft.com/office/drawing/2014/main" id="{2EFCB550-F74E-9D93-1F02-B1F49ACFA2F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0460292-6395-C371-E37E-586DC8480C4C}"/>
              </a:ext>
            </a:extLst>
          </p:cNvPr>
          <p:cNvSpPr>
            <a:spLocks noGrp="1"/>
          </p:cNvSpPr>
          <p:nvPr>
            <p:ph type="sldNum" sz="quarter" idx="12"/>
          </p:nvPr>
        </p:nvSpPr>
        <p:spPr/>
        <p:txBody>
          <a:bodyPr/>
          <a:lstStyle/>
          <a:p>
            <a:fld id="{988EC3C7-54A1-41BE-922A-AADB9ADE9A6E}" type="slidenum">
              <a:rPr lang="en-IN" smtClean="0"/>
              <a:t>‹#›</a:t>
            </a:fld>
            <a:endParaRPr lang="en-IN"/>
          </a:p>
        </p:txBody>
      </p:sp>
    </p:spTree>
    <p:extLst>
      <p:ext uri="{BB962C8B-B14F-4D97-AF65-F5344CB8AC3E}">
        <p14:creationId xmlns:p14="http://schemas.microsoft.com/office/powerpoint/2010/main" val="12508673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B70DBB-E9D5-51A3-65CA-A845D6A16EA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892055E-C944-A422-E4B4-98DB15B9972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D2D35D0-D4AB-BC6C-D287-87F112037C03}"/>
              </a:ext>
            </a:extLst>
          </p:cNvPr>
          <p:cNvSpPr>
            <a:spLocks noGrp="1"/>
          </p:cNvSpPr>
          <p:nvPr>
            <p:ph type="dt" sz="half" idx="10"/>
          </p:nvPr>
        </p:nvSpPr>
        <p:spPr/>
        <p:txBody>
          <a:bodyPr/>
          <a:lstStyle/>
          <a:p>
            <a:fld id="{C155630A-DCD4-4FD2-9D2E-0D8CB4B520BC}" type="datetimeFigureOut">
              <a:rPr lang="en-IN" smtClean="0"/>
              <a:t>19-11-2025</a:t>
            </a:fld>
            <a:endParaRPr lang="en-IN"/>
          </a:p>
        </p:txBody>
      </p:sp>
      <p:sp>
        <p:nvSpPr>
          <p:cNvPr id="5" name="Footer Placeholder 4">
            <a:extLst>
              <a:ext uri="{FF2B5EF4-FFF2-40B4-BE49-F238E27FC236}">
                <a16:creationId xmlns:a16="http://schemas.microsoft.com/office/drawing/2014/main" id="{CD7F42D1-7870-C344-CF48-CF84412FA6B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E46CBA4-738D-B17F-CBF0-29FE68C50949}"/>
              </a:ext>
            </a:extLst>
          </p:cNvPr>
          <p:cNvSpPr>
            <a:spLocks noGrp="1"/>
          </p:cNvSpPr>
          <p:nvPr>
            <p:ph type="sldNum" sz="quarter" idx="12"/>
          </p:nvPr>
        </p:nvSpPr>
        <p:spPr/>
        <p:txBody>
          <a:bodyPr/>
          <a:lstStyle/>
          <a:p>
            <a:fld id="{988EC3C7-54A1-41BE-922A-AADB9ADE9A6E}" type="slidenum">
              <a:rPr lang="en-IN" smtClean="0"/>
              <a:t>‹#›</a:t>
            </a:fld>
            <a:endParaRPr lang="en-IN"/>
          </a:p>
        </p:txBody>
      </p:sp>
    </p:spTree>
    <p:extLst>
      <p:ext uri="{BB962C8B-B14F-4D97-AF65-F5344CB8AC3E}">
        <p14:creationId xmlns:p14="http://schemas.microsoft.com/office/powerpoint/2010/main" val="39812247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4CD668-700A-B50F-C062-23C3B162A3E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2B1EEFC-37D5-E9BF-CAD5-15B94F880D0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3C6D71A-6C0C-89D4-366B-5BB7DD0452E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902B97D-EFD4-CF8E-EE80-7887147898E8}"/>
              </a:ext>
            </a:extLst>
          </p:cNvPr>
          <p:cNvSpPr>
            <a:spLocks noGrp="1"/>
          </p:cNvSpPr>
          <p:nvPr>
            <p:ph type="dt" sz="half" idx="10"/>
          </p:nvPr>
        </p:nvSpPr>
        <p:spPr/>
        <p:txBody>
          <a:bodyPr/>
          <a:lstStyle/>
          <a:p>
            <a:fld id="{C155630A-DCD4-4FD2-9D2E-0D8CB4B520BC}" type="datetimeFigureOut">
              <a:rPr lang="en-IN" smtClean="0"/>
              <a:t>19-11-2025</a:t>
            </a:fld>
            <a:endParaRPr lang="en-IN"/>
          </a:p>
        </p:txBody>
      </p:sp>
      <p:sp>
        <p:nvSpPr>
          <p:cNvPr id="6" name="Footer Placeholder 5">
            <a:extLst>
              <a:ext uri="{FF2B5EF4-FFF2-40B4-BE49-F238E27FC236}">
                <a16:creationId xmlns:a16="http://schemas.microsoft.com/office/drawing/2014/main" id="{78F14497-E9DD-88AA-D288-FFA5DCC42F3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4B76ECA-EC92-140B-2B6D-59CF4B1FBEA4}"/>
              </a:ext>
            </a:extLst>
          </p:cNvPr>
          <p:cNvSpPr>
            <a:spLocks noGrp="1"/>
          </p:cNvSpPr>
          <p:nvPr>
            <p:ph type="sldNum" sz="quarter" idx="12"/>
          </p:nvPr>
        </p:nvSpPr>
        <p:spPr/>
        <p:txBody>
          <a:bodyPr/>
          <a:lstStyle/>
          <a:p>
            <a:fld id="{988EC3C7-54A1-41BE-922A-AADB9ADE9A6E}" type="slidenum">
              <a:rPr lang="en-IN" smtClean="0"/>
              <a:t>‹#›</a:t>
            </a:fld>
            <a:endParaRPr lang="en-IN"/>
          </a:p>
        </p:txBody>
      </p:sp>
    </p:spTree>
    <p:extLst>
      <p:ext uri="{BB962C8B-B14F-4D97-AF65-F5344CB8AC3E}">
        <p14:creationId xmlns:p14="http://schemas.microsoft.com/office/powerpoint/2010/main" val="18744233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B98AEE-762A-76B3-DAB8-87BF25EC584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1A51C27-62BC-4E51-C9B8-AC98B6FBBEF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392EBD5-CAF8-D337-CD44-3E224FD3A56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927C640-FCEB-5AED-3518-C08BD2C3477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5848771-E36E-E2F8-F277-EF22568FD73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4F0F821-6267-87F6-E25C-6D2FFF6AA51A}"/>
              </a:ext>
            </a:extLst>
          </p:cNvPr>
          <p:cNvSpPr>
            <a:spLocks noGrp="1"/>
          </p:cNvSpPr>
          <p:nvPr>
            <p:ph type="dt" sz="half" idx="10"/>
          </p:nvPr>
        </p:nvSpPr>
        <p:spPr/>
        <p:txBody>
          <a:bodyPr/>
          <a:lstStyle/>
          <a:p>
            <a:fld id="{C155630A-DCD4-4FD2-9D2E-0D8CB4B520BC}" type="datetimeFigureOut">
              <a:rPr lang="en-IN" smtClean="0"/>
              <a:t>19-11-2025</a:t>
            </a:fld>
            <a:endParaRPr lang="en-IN"/>
          </a:p>
        </p:txBody>
      </p:sp>
      <p:sp>
        <p:nvSpPr>
          <p:cNvPr id="8" name="Footer Placeholder 7">
            <a:extLst>
              <a:ext uri="{FF2B5EF4-FFF2-40B4-BE49-F238E27FC236}">
                <a16:creationId xmlns:a16="http://schemas.microsoft.com/office/drawing/2014/main" id="{9214A755-3805-D822-1086-C5442F0F0C7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BD5A0A3-D4A1-F56B-3D69-F75DCE0DD129}"/>
              </a:ext>
            </a:extLst>
          </p:cNvPr>
          <p:cNvSpPr>
            <a:spLocks noGrp="1"/>
          </p:cNvSpPr>
          <p:nvPr>
            <p:ph type="sldNum" sz="quarter" idx="12"/>
          </p:nvPr>
        </p:nvSpPr>
        <p:spPr/>
        <p:txBody>
          <a:bodyPr/>
          <a:lstStyle/>
          <a:p>
            <a:fld id="{988EC3C7-54A1-41BE-922A-AADB9ADE9A6E}" type="slidenum">
              <a:rPr lang="en-IN" smtClean="0"/>
              <a:t>‹#›</a:t>
            </a:fld>
            <a:endParaRPr lang="en-IN"/>
          </a:p>
        </p:txBody>
      </p:sp>
    </p:spTree>
    <p:extLst>
      <p:ext uri="{BB962C8B-B14F-4D97-AF65-F5344CB8AC3E}">
        <p14:creationId xmlns:p14="http://schemas.microsoft.com/office/powerpoint/2010/main" val="35008371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85351-21DB-14E8-DE9C-E7E3407B18B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80FFF70-9040-E99C-0DCE-D23F50BCC855}"/>
              </a:ext>
            </a:extLst>
          </p:cNvPr>
          <p:cNvSpPr>
            <a:spLocks noGrp="1"/>
          </p:cNvSpPr>
          <p:nvPr>
            <p:ph type="dt" sz="half" idx="10"/>
          </p:nvPr>
        </p:nvSpPr>
        <p:spPr/>
        <p:txBody>
          <a:bodyPr/>
          <a:lstStyle/>
          <a:p>
            <a:fld id="{C155630A-DCD4-4FD2-9D2E-0D8CB4B520BC}" type="datetimeFigureOut">
              <a:rPr lang="en-IN" smtClean="0"/>
              <a:t>19-11-2025</a:t>
            </a:fld>
            <a:endParaRPr lang="en-IN"/>
          </a:p>
        </p:txBody>
      </p:sp>
      <p:sp>
        <p:nvSpPr>
          <p:cNvPr id="4" name="Footer Placeholder 3">
            <a:extLst>
              <a:ext uri="{FF2B5EF4-FFF2-40B4-BE49-F238E27FC236}">
                <a16:creationId xmlns:a16="http://schemas.microsoft.com/office/drawing/2014/main" id="{8596D2BA-791C-AFD4-6BFE-A7049C14785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3BA9CA7-3B54-C8D7-3B4A-6393685D31A7}"/>
              </a:ext>
            </a:extLst>
          </p:cNvPr>
          <p:cNvSpPr>
            <a:spLocks noGrp="1"/>
          </p:cNvSpPr>
          <p:nvPr>
            <p:ph type="sldNum" sz="quarter" idx="12"/>
          </p:nvPr>
        </p:nvSpPr>
        <p:spPr/>
        <p:txBody>
          <a:bodyPr/>
          <a:lstStyle/>
          <a:p>
            <a:fld id="{988EC3C7-54A1-41BE-922A-AADB9ADE9A6E}" type="slidenum">
              <a:rPr lang="en-IN" smtClean="0"/>
              <a:t>‹#›</a:t>
            </a:fld>
            <a:endParaRPr lang="en-IN"/>
          </a:p>
        </p:txBody>
      </p:sp>
    </p:spTree>
    <p:extLst>
      <p:ext uri="{BB962C8B-B14F-4D97-AF65-F5344CB8AC3E}">
        <p14:creationId xmlns:p14="http://schemas.microsoft.com/office/powerpoint/2010/main" val="13963192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0C1D0C4-079C-194F-C475-E192FC2C748D}"/>
              </a:ext>
            </a:extLst>
          </p:cNvPr>
          <p:cNvSpPr>
            <a:spLocks noGrp="1"/>
          </p:cNvSpPr>
          <p:nvPr>
            <p:ph type="dt" sz="half" idx="10"/>
          </p:nvPr>
        </p:nvSpPr>
        <p:spPr/>
        <p:txBody>
          <a:bodyPr/>
          <a:lstStyle/>
          <a:p>
            <a:fld id="{C155630A-DCD4-4FD2-9D2E-0D8CB4B520BC}" type="datetimeFigureOut">
              <a:rPr lang="en-IN" smtClean="0"/>
              <a:t>19-11-2025</a:t>
            </a:fld>
            <a:endParaRPr lang="en-IN"/>
          </a:p>
        </p:txBody>
      </p:sp>
      <p:sp>
        <p:nvSpPr>
          <p:cNvPr id="3" name="Footer Placeholder 2">
            <a:extLst>
              <a:ext uri="{FF2B5EF4-FFF2-40B4-BE49-F238E27FC236}">
                <a16:creationId xmlns:a16="http://schemas.microsoft.com/office/drawing/2014/main" id="{C4301795-6BE9-643D-97E2-755A3E94E85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434025C-6458-61C3-4AD5-53995A37B634}"/>
              </a:ext>
            </a:extLst>
          </p:cNvPr>
          <p:cNvSpPr>
            <a:spLocks noGrp="1"/>
          </p:cNvSpPr>
          <p:nvPr>
            <p:ph type="sldNum" sz="quarter" idx="12"/>
          </p:nvPr>
        </p:nvSpPr>
        <p:spPr/>
        <p:txBody>
          <a:bodyPr/>
          <a:lstStyle/>
          <a:p>
            <a:fld id="{988EC3C7-54A1-41BE-922A-AADB9ADE9A6E}" type="slidenum">
              <a:rPr lang="en-IN" smtClean="0"/>
              <a:t>‹#›</a:t>
            </a:fld>
            <a:endParaRPr lang="en-IN"/>
          </a:p>
        </p:txBody>
      </p:sp>
    </p:spTree>
    <p:extLst>
      <p:ext uri="{BB962C8B-B14F-4D97-AF65-F5344CB8AC3E}">
        <p14:creationId xmlns:p14="http://schemas.microsoft.com/office/powerpoint/2010/main" val="8850337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9090EA-CAA9-3B48-FE48-543AADF6340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995FBB6-B95F-68D6-3164-72ADFABA9FE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42B51DD-EA0A-2103-EEAC-E80ECB71FF0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81CABB-78B2-2E67-F147-2AFA1768C8DF}"/>
              </a:ext>
            </a:extLst>
          </p:cNvPr>
          <p:cNvSpPr>
            <a:spLocks noGrp="1"/>
          </p:cNvSpPr>
          <p:nvPr>
            <p:ph type="dt" sz="half" idx="10"/>
          </p:nvPr>
        </p:nvSpPr>
        <p:spPr/>
        <p:txBody>
          <a:bodyPr/>
          <a:lstStyle/>
          <a:p>
            <a:fld id="{C155630A-DCD4-4FD2-9D2E-0D8CB4B520BC}" type="datetimeFigureOut">
              <a:rPr lang="en-IN" smtClean="0"/>
              <a:t>19-11-2025</a:t>
            </a:fld>
            <a:endParaRPr lang="en-IN"/>
          </a:p>
        </p:txBody>
      </p:sp>
      <p:sp>
        <p:nvSpPr>
          <p:cNvPr id="6" name="Footer Placeholder 5">
            <a:extLst>
              <a:ext uri="{FF2B5EF4-FFF2-40B4-BE49-F238E27FC236}">
                <a16:creationId xmlns:a16="http://schemas.microsoft.com/office/drawing/2014/main" id="{7CED4ADC-1ABB-BD92-196F-EA3BEB61030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65F783B-01E7-D93E-D6B3-8678106FC162}"/>
              </a:ext>
            </a:extLst>
          </p:cNvPr>
          <p:cNvSpPr>
            <a:spLocks noGrp="1"/>
          </p:cNvSpPr>
          <p:nvPr>
            <p:ph type="sldNum" sz="quarter" idx="12"/>
          </p:nvPr>
        </p:nvSpPr>
        <p:spPr/>
        <p:txBody>
          <a:bodyPr/>
          <a:lstStyle/>
          <a:p>
            <a:fld id="{988EC3C7-54A1-41BE-922A-AADB9ADE9A6E}" type="slidenum">
              <a:rPr lang="en-IN" smtClean="0"/>
              <a:t>‹#›</a:t>
            </a:fld>
            <a:endParaRPr lang="en-IN"/>
          </a:p>
        </p:txBody>
      </p:sp>
    </p:spTree>
    <p:extLst>
      <p:ext uri="{BB962C8B-B14F-4D97-AF65-F5344CB8AC3E}">
        <p14:creationId xmlns:p14="http://schemas.microsoft.com/office/powerpoint/2010/main" val="9219463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82431F-B761-2119-7A9B-1C4BAE68A93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65B99A3-A412-EABC-1B56-98B248CCAB5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81BDF7C-45EB-CED2-A08A-7D5E0112853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4C4B909-0895-938A-BA60-957539BF3893}"/>
              </a:ext>
            </a:extLst>
          </p:cNvPr>
          <p:cNvSpPr>
            <a:spLocks noGrp="1"/>
          </p:cNvSpPr>
          <p:nvPr>
            <p:ph type="dt" sz="half" idx="10"/>
          </p:nvPr>
        </p:nvSpPr>
        <p:spPr/>
        <p:txBody>
          <a:bodyPr/>
          <a:lstStyle/>
          <a:p>
            <a:fld id="{C155630A-DCD4-4FD2-9D2E-0D8CB4B520BC}" type="datetimeFigureOut">
              <a:rPr lang="en-IN" smtClean="0"/>
              <a:t>19-11-2025</a:t>
            </a:fld>
            <a:endParaRPr lang="en-IN"/>
          </a:p>
        </p:txBody>
      </p:sp>
      <p:sp>
        <p:nvSpPr>
          <p:cNvPr id="6" name="Footer Placeholder 5">
            <a:extLst>
              <a:ext uri="{FF2B5EF4-FFF2-40B4-BE49-F238E27FC236}">
                <a16:creationId xmlns:a16="http://schemas.microsoft.com/office/drawing/2014/main" id="{05AE46FB-A399-E5AF-67E1-BB3C43D4570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9564FC7-5C7F-8C67-B069-EF5009AA45F5}"/>
              </a:ext>
            </a:extLst>
          </p:cNvPr>
          <p:cNvSpPr>
            <a:spLocks noGrp="1"/>
          </p:cNvSpPr>
          <p:nvPr>
            <p:ph type="sldNum" sz="quarter" idx="12"/>
          </p:nvPr>
        </p:nvSpPr>
        <p:spPr/>
        <p:txBody>
          <a:bodyPr/>
          <a:lstStyle/>
          <a:p>
            <a:fld id="{988EC3C7-54A1-41BE-922A-AADB9ADE9A6E}" type="slidenum">
              <a:rPr lang="en-IN" smtClean="0"/>
              <a:t>‹#›</a:t>
            </a:fld>
            <a:endParaRPr lang="en-IN"/>
          </a:p>
        </p:txBody>
      </p:sp>
    </p:spTree>
    <p:extLst>
      <p:ext uri="{BB962C8B-B14F-4D97-AF65-F5344CB8AC3E}">
        <p14:creationId xmlns:p14="http://schemas.microsoft.com/office/powerpoint/2010/main" val="32902125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384D4-A889-CFD3-A6C0-3EA89BC47D8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1EEB220-78C1-7125-9FB7-39AE006BFC8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3A46C33-C92C-186D-4381-6B57CED871B8}"/>
              </a:ext>
            </a:extLst>
          </p:cNvPr>
          <p:cNvSpPr>
            <a:spLocks noGrp="1"/>
          </p:cNvSpPr>
          <p:nvPr>
            <p:ph type="dt" sz="half" idx="10"/>
          </p:nvPr>
        </p:nvSpPr>
        <p:spPr/>
        <p:txBody>
          <a:bodyPr/>
          <a:lstStyle/>
          <a:p>
            <a:fld id="{C155630A-DCD4-4FD2-9D2E-0D8CB4B520BC}" type="datetimeFigureOut">
              <a:rPr lang="en-IN" smtClean="0"/>
              <a:t>19-11-2025</a:t>
            </a:fld>
            <a:endParaRPr lang="en-IN"/>
          </a:p>
        </p:txBody>
      </p:sp>
      <p:sp>
        <p:nvSpPr>
          <p:cNvPr id="5" name="Footer Placeholder 4">
            <a:extLst>
              <a:ext uri="{FF2B5EF4-FFF2-40B4-BE49-F238E27FC236}">
                <a16:creationId xmlns:a16="http://schemas.microsoft.com/office/drawing/2014/main" id="{A04D8558-D059-8CB7-5698-11C89F0AAC4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5C73643-E25A-E6AD-BB65-4336579DBC1C}"/>
              </a:ext>
            </a:extLst>
          </p:cNvPr>
          <p:cNvSpPr>
            <a:spLocks noGrp="1"/>
          </p:cNvSpPr>
          <p:nvPr>
            <p:ph type="sldNum" sz="quarter" idx="12"/>
          </p:nvPr>
        </p:nvSpPr>
        <p:spPr/>
        <p:txBody>
          <a:bodyPr/>
          <a:lstStyle/>
          <a:p>
            <a:fld id="{988EC3C7-54A1-41BE-922A-AADB9ADE9A6E}" type="slidenum">
              <a:rPr lang="en-IN" smtClean="0"/>
              <a:t>‹#›</a:t>
            </a:fld>
            <a:endParaRPr lang="en-IN"/>
          </a:p>
        </p:txBody>
      </p:sp>
    </p:spTree>
    <p:extLst>
      <p:ext uri="{BB962C8B-B14F-4D97-AF65-F5344CB8AC3E}">
        <p14:creationId xmlns:p14="http://schemas.microsoft.com/office/powerpoint/2010/main" val="11998096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7E2BBD6-BE6D-E719-4A4B-7F5C35CF55B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7ACF20C-7BD1-F559-1951-F148DFED9E5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3E99B8E-28EE-2E2B-34A2-E400AD1425FF}"/>
              </a:ext>
            </a:extLst>
          </p:cNvPr>
          <p:cNvSpPr>
            <a:spLocks noGrp="1"/>
          </p:cNvSpPr>
          <p:nvPr>
            <p:ph type="dt" sz="half" idx="10"/>
          </p:nvPr>
        </p:nvSpPr>
        <p:spPr/>
        <p:txBody>
          <a:bodyPr/>
          <a:lstStyle/>
          <a:p>
            <a:fld id="{C155630A-DCD4-4FD2-9D2E-0D8CB4B520BC}" type="datetimeFigureOut">
              <a:rPr lang="en-IN" smtClean="0"/>
              <a:t>19-11-2025</a:t>
            </a:fld>
            <a:endParaRPr lang="en-IN"/>
          </a:p>
        </p:txBody>
      </p:sp>
      <p:sp>
        <p:nvSpPr>
          <p:cNvPr id="5" name="Footer Placeholder 4">
            <a:extLst>
              <a:ext uri="{FF2B5EF4-FFF2-40B4-BE49-F238E27FC236}">
                <a16:creationId xmlns:a16="http://schemas.microsoft.com/office/drawing/2014/main" id="{34E53D89-A531-E2D6-8075-4DE4D5A8FFF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5A6CB25-D279-622C-7024-BCA60E35AA66}"/>
              </a:ext>
            </a:extLst>
          </p:cNvPr>
          <p:cNvSpPr>
            <a:spLocks noGrp="1"/>
          </p:cNvSpPr>
          <p:nvPr>
            <p:ph type="sldNum" sz="quarter" idx="12"/>
          </p:nvPr>
        </p:nvSpPr>
        <p:spPr/>
        <p:txBody>
          <a:bodyPr/>
          <a:lstStyle/>
          <a:p>
            <a:fld id="{988EC3C7-54A1-41BE-922A-AADB9ADE9A6E}" type="slidenum">
              <a:rPr lang="en-IN" smtClean="0"/>
              <a:t>‹#›</a:t>
            </a:fld>
            <a:endParaRPr lang="en-IN"/>
          </a:p>
        </p:txBody>
      </p:sp>
    </p:spTree>
    <p:extLst>
      <p:ext uri="{BB962C8B-B14F-4D97-AF65-F5344CB8AC3E}">
        <p14:creationId xmlns:p14="http://schemas.microsoft.com/office/powerpoint/2010/main" val="27022914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D553288-4AF2-B31F-3634-8798FA11936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B9F217C-9FBA-5DD9-A05B-F835817C93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E93887E-337E-7CEA-C0CC-33439F6162B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155630A-DCD4-4FD2-9D2E-0D8CB4B520BC}" type="datetimeFigureOut">
              <a:rPr lang="en-IN" smtClean="0"/>
              <a:t>19-11-2025</a:t>
            </a:fld>
            <a:endParaRPr lang="en-IN"/>
          </a:p>
        </p:txBody>
      </p:sp>
      <p:sp>
        <p:nvSpPr>
          <p:cNvPr id="5" name="Footer Placeholder 4">
            <a:extLst>
              <a:ext uri="{FF2B5EF4-FFF2-40B4-BE49-F238E27FC236}">
                <a16:creationId xmlns:a16="http://schemas.microsoft.com/office/drawing/2014/main" id="{CF0691EC-2DC5-CE85-BD86-1050ACE64A9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BCE8EC81-E3ED-3960-F84E-7F5843A5BFE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88EC3C7-54A1-41BE-922A-AADB9ADE9A6E}" type="slidenum">
              <a:rPr lang="en-IN" smtClean="0"/>
              <a:t>‹#›</a:t>
            </a:fld>
            <a:endParaRPr lang="en-IN"/>
          </a:p>
        </p:txBody>
      </p:sp>
    </p:spTree>
    <p:extLst>
      <p:ext uri="{BB962C8B-B14F-4D97-AF65-F5344CB8AC3E}">
        <p14:creationId xmlns:p14="http://schemas.microsoft.com/office/powerpoint/2010/main" val="39568461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kaggle.com/datasets/rayhanzamzamy/non-and-biodegradable-waste-dataset"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A42D48-ABAE-A800-8A27-22415644EA98}"/>
              </a:ext>
            </a:extLst>
          </p:cNvPr>
          <p:cNvSpPr>
            <a:spLocks noGrp="1"/>
          </p:cNvSpPr>
          <p:nvPr>
            <p:ph type="ctrTitle"/>
          </p:nvPr>
        </p:nvSpPr>
        <p:spPr>
          <a:xfrm>
            <a:off x="1524000" y="393290"/>
            <a:ext cx="9144000" cy="3520171"/>
          </a:xfrm>
        </p:spPr>
        <p:txBody>
          <a:bodyPr/>
          <a:lstStyle/>
          <a:p>
            <a:r>
              <a:rPr lang="en-US" dirty="0"/>
              <a:t> </a:t>
            </a:r>
            <a:endParaRPr lang="en-IN" dirty="0"/>
          </a:p>
        </p:txBody>
      </p:sp>
      <p:pic>
        <p:nvPicPr>
          <p:cNvPr id="5" name="Picture 4" descr="A blue and red text on a black background&#10;&#10;AI-generated content may be incorrect.">
            <a:extLst>
              <a:ext uri="{FF2B5EF4-FFF2-40B4-BE49-F238E27FC236}">
                <a16:creationId xmlns:a16="http://schemas.microsoft.com/office/drawing/2014/main" id="{A7710243-6EC8-B88F-6752-EFCA6E5BE7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46069" y="1712778"/>
            <a:ext cx="5499862" cy="1836889"/>
          </a:xfrm>
          <a:prstGeom prst="rect">
            <a:avLst/>
          </a:prstGeom>
        </p:spPr>
      </p:pic>
      <p:sp>
        <p:nvSpPr>
          <p:cNvPr id="6" name="TextBox 5">
            <a:extLst>
              <a:ext uri="{FF2B5EF4-FFF2-40B4-BE49-F238E27FC236}">
                <a16:creationId xmlns:a16="http://schemas.microsoft.com/office/drawing/2014/main" id="{39F01FC9-A15F-90B8-0C8F-E37188AD837E}"/>
              </a:ext>
            </a:extLst>
          </p:cNvPr>
          <p:cNvSpPr txBox="1"/>
          <p:nvPr/>
        </p:nvSpPr>
        <p:spPr>
          <a:xfrm>
            <a:off x="406195" y="4944326"/>
            <a:ext cx="3519949" cy="923330"/>
          </a:xfrm>
          <a:prstGeom prst="rect">
            <a:avLst/>
          </a:prstGeom>
          <a:noFill/>
        </p:spPr>
        <p:txBody>
          <a:bodyPr wrap="square" rtlCol="0">
            <a:spAutoFit/>
          </a:bodyPr>
          <a:lstStyle/>
          <a:p>
            <a:r>
              <a:rPr lang="en-US" dirty="0"/>
              <a:t>Submitted To: Dr Amit Chauhan</a:t>
            </a:r>
          </a:p>
          <a:p>
            <a:r>
              <a:rPr lang="en-US" dirty="0"/>
              <a:t>Assistant Professor </a:t>
            </a:r>
            <a:br>
              <a:rPr lang="en-US" dirty="0"/>
            </a:br>
            <a:r>
              <a:rPr lang="en-US" dirty="0"/>
              <a:t>SCSET, Bennett University</a:t>
            </a:r>
            <a:endParaRPr lang="en-IN" dirty="0"/>
          </a:p>
        </p:txBody>
      </p:sp>
      <p:sp>
        <p:nvSpPr>
          <p:cNvPr id="7" name="TextBox 6">
            <a:extLst>
              <a:ext uri="{FF2B5EF4-FFF2-40B4-BE49-F238E27FC236}">
                <a16:creationId xmlns:a16="http://schemas.microsoft.com/office/drawing/2014/main" id="{6CDDF087-3867-6641-9FF3-8F912AD95A64}"/>
              </a:ext>
            </a:extLst>
          </p:cNvPr>
          <p:cNvSpPr txBox="1"/>
          <p:nvPr/>
        </p:nvSpPr>
        <p:spPr>
          <a:xfrm>
            <a:off x="8105776" y="4944326"/>
            <a:ext cx="3813380" cy="923330"/>
          </a:xfrm>
          <a:prstGeom prst="rect">
            <a:avLst/>
          </a:prstGeom>
          <a:noFill/>
        </p:spPr>
        <p:txBody>
          <a:bodyPr wrap="square" rtlCol="0">
            <a:spAutoFit/>
          </a:bodyPr>
          <a:lstStyle/>
          <a:p>
            <a:r>
              <a:rPr lang="en-US" dirty="0"/>
              <a:t>Presented By:</a:t>
            </a:r>
          </a:p>
          <a:p>
            <a:r>
              <a:rPr lang="en-US" dirty="0"/>
              <a:t>Aakansh Tandon 	 E23CSEU0038</a:t>
            </a:r>
            <a:br>
              <a:rPr lang="en-US" dirty="0"/>
            </a:br>
            <a:r>
              <a:rPr lang="en-US" dirty="0"/>
              <a:t>Lakshya Rathi 	 E23CSEU0034</a:t>
            </a:r>
            <a:endParaRPr lang="en-IN" dirty="0"/>
          </a:p>
        </p:txBody>
      </p:sp>
    </p:spTree>
    <p:extLst>
      <p:ext uri="{BB962C8B-B14F-4D97-AF65-F5344CB8AC3E}">
        <p14:creationId xmlns:p14="http://schemas.microsoft.com/office/powerpoint/2010/main" val="39567015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8323DE-85ED-A5A9-0A1C-C0D7121EEDFE}"/>
              </a:ext>
            </a:extLst>
          </p:cNvPr>
          <p:cNvSpPr>
            <a:spLocks noGrp="1"/>
          </p:cNvSpPr>
          <p:nvPr>
            <p:ph type="title"/>
          </p:nvPr>
        </p:nvSpPr>
        <p:spPr/>
        <p:txBody>
          <a:bodyPr/>
          <a:lstStyle/>
          <a:p>
            <a:r>
              <a:rPr lang="en-US" dirty="0"/>
              <a:t>Contents</a:t>
            </a:r>
            <a:endParaRPr lang="en-IN" dirty="0"/>
          </a:p>
        </p:txBody>
      </p:sp>
      <p:graphicFrame>
        <p:nvGraphicFramePr>
          <p:cNvPr id="5" name="Content Placeholder 4">
            <a:extLst>
              <a:ext uri="{FF2B5EF4-FFF2-40B4-BE49-F238E27FC236}">
                <a16:creationId xmlns:a16="http://schemas.microsoft.com/office/drawing/2014/main" id="{1FFC5C14-FB24-D055-7ABA-C0C89EAA42E4}"/>
              </a:ext>
            </a:extLst>
          </p:cNvPr>
          <p:cNvGraphicFramePr>
            <a:graphicFrameLocks noGrp="1"/>
          </p:cNvGraphicFramePr>
          <p:nvPr>
            <p:ph idx="1"/>
            <p:extLst>
              <p:ext uri="{D42A27DB-BD31-4B8C-83A1-F6EECF244321}">
                <p14:modId xmlns:p14="http://schemas.microsoft.com/office/powerpoint/2010/main" val="3666360254"/>
              </p:ext>
            </p:extLst>
          </p:nvPr>
        </p:nvGraphicFramePr>
        <p:xfrm>
          <a:off x="838200" y="1492250"/>
          <a:ext cx="10515597" cy="4820920"/>
        </p:xfrm>
        <a:graphic>
          <a:graphicData uri="http://schemas.openxmlformats.org/drawingml/2006/table">
            <a:tbl>
              <a:tblPr firstRow="1" bandRow="1">
                <a:tableStyleId>{5C22544A-7EE6-4342-B048-85BDC9FD1C3A}</a:tableStyleId>
              </a:tblPr>
              <a:tblGrid>
                <a:gridCol w="3505199">
                  <a:extLst>
                    <a:ext uri="{9D8B030D-6E8A-4147-A177-3AD203B41FA5}">
                      <a16:colId xmlns:a16="http://schemas.microsoft.com/office/drawing/2014/main" val="157298222"/>
                    </a:ext>
                  </a:extLst>
                </a:gridCol>
                <a:gridCol w="3505199">
                  <a:extLst>
                    <a:ext uri="{9D8B030D-6E8A-4147-A177-3AD203B41FA5}">
                      <a16:colId xmlns:a16="http://schemas.microsoft.com/office/drawing/2014/main" val="3851864087"/>
                    </a:ext>
                  </a:extLst>
                </a:gridCol>
                <a:gridCol w="3505199">
                  <a:extLst>
                    <a:ext uri="{9D8B030D-6E8A-4147-A177-3AD203B41FA5}">
                      <a16:colId xmlns:a16="http://schemas.microsoft.com/office/drawing/2014/main" val="3052085614"/>
                    </a:ext>
                  </a:extLst>
                </a:gridCol>
              </a:tblGrid>
              <a:tr h="370840">
                <a:tc>
                  <a:txBody>
                    <a:bodyPr/>
                    <a:lstStyle/>
                    <a:p>
                      <a:pPr>
                        <a:buNone/>
                      </a:pPr>
                      <a:r>
                        <a:rPr lang="en-IN" b="1" dirty="0"/>
                        <a:t>Section</a:t>
                      </a:r>
                      <a:endParaRPr lang="en-IN" dirty="0"/>
                    </a:p>
                  </a:txBody>
                  <a:tcPr anchor="ctr"/>
                </a:tc>
                <a:tc>
                  <a:txBody>
                    <a:bodyPr/>
                    <a:lstStyle/>
                    <a:p>
                      <a:pPr>
                        <a:buNone/>
                      </a:pPr>
                      <a:r>
                        <a:rPr lang="en-IN" b="1"/>
                        <a:t>Title</a:t>
                      </a:r>
                      <a:endParaRPr lang="en-IN"/>
                    </a:p>
                  </a:txBody>
                  <a:tcPr anchor="ctr"/>
                </a:tc>
                <a:tc>
                  <a:txBody>
                    <a:bodyPr/>
                    <a:lstStyle/>
                    <a:p>
                      <a:pPr>
                        <a:buNone/>
                      </a:pPr>
                      <a:r>
                        <a:rPr lang="en-IN" b="1"/>
                        <a:t>Slide No.</a:t>
                      </a:r>
                      <a:endParaRPr lang="en-IN"/>
                    </a:p>
                  </a:txBody>
                  <a:tcPr anchor="ctr"/>
                </a:tc>
                <a:extLst>
                  <a:ext uri="{0D108BD9-81ED-4DB2-BD59-A6C34878D82A}">
                    <a16:rowId xmlns:a16="http://schemas.microsoft.com/office/drawing/2014/main" val="3455767165"/>
                  </a:ext>
                </a:extLst>
              </a:tr>
              <a:tr h="370840">
                <a:tc>
                  <a:txBody>
                    <a:bodyPr/>
                    <a:lstStyle/>
                    <a:p>
                      <a:pPr>
                        <a:buNone/>
                      </a:pPr>
                      <a:r>
                        <a:rPr lang="en-IN"/>
                        <a:t>1</a:t>
                      </a:r>
                    </a:p>
                  </a:txBody>
                  <a:tcPr anchor="ctr"/>
                </a:tc>
                <a:tc>
                  <a:txBody>
                    <a:bodyPr/>
                    <a:lstStyle/>
                    <a:p>
                      <a:pPr>
                        <a:buNone/>
                      </a:pPr>
                      <a:r>
                        <a:rPr lang="en-IN" b="1"/>
                        <a:t>Introduction &amp; Motivation</a:t>
                      </a:r>
                      <a:endParaRPr lang="en-IN"/>
                    </a:p>
                  </a:txBody>
                  <a:tcPr anchor="ctr"/>
                </a:tc>
                <a:tc>
                  <a:txBody>
                    <a:bodyPr/>
                    <a:lstStyle/>
                    <a:p>
                      <a:pPr>
                        <a:buNone/>
                      </a:pPr>
                      <a:r>
                        <a:rPr lang="en-IN"/>
                        <a:t>3</a:t>
                      </a:r>
                    </a:p>
                  </a:txBody>
                  <a:tcPr anchor="ctr"/>
                </a:tc>
                <a:extLst>
                  <a:ext uri="{0D108BD9-81ED-4DB2-BD59-A6C34878D82A}">
                    <a16:rowId xmlns:a16="http://schemas.microsoft.com/office/drawing/2014/main" val="2812628999"/>
                  </a:ext>
                </a:extLst>
              </a:tr>
              <a:tr h="370840">
                <a:tc>
                  <a:txBody>
                    <a:bodyPr/>
                    <a:lstStyle/>
                    <a:p>
                      <a:pPr>
                        <a:buNone/>
                      </a:pPr>
                      <a:r>
                        <a:rPr lang="en-IN"/>
                        <a:t>2</a:t>
                      </a:r>
                    </a:p>
                  </a:txBody>
                  <a:tcPr anchor="ctr"/>
                </a:tc>
                <a:tc>
                  <a:txBody>
                    <a:bodyPr/>
                    <a:lstStyle/>
                    <a:p>
                      <a:pPr>
                        <a:buNone/>
                      </a:pPr>
                      <a:r>
                        <a:rPr lang="en-IN" b="1" dirty="0"/>
                        <a:t>Literature Review</a:t>
                      </a:r>
                      <a:endParaRPr lang="en-IN" dirty="0"/>
                    </a:p>
                  </a:txBody>
                  <a:tcPr anchor="ctr"/>
                </a:tc>
                <a:tc>
                  <a:txBody>
                    <a:bodyPr/>
                    <a:lstStyle/>
                    <a:p>
                      <a:pPr>
                        <a:buNone/>
                      </a:pPr>
                      <a:r>
                        <a:rPr lang="en-IN"/>
                        <a:t>4</a:t>
                      </a:r>
                    </a:p>
                  </a:txBody>
                  <a:tcPr anchor="ctr"/>
                </a:tc>
                <a:extLst>
                  <a:ext uri="{0D108BD9-81ED-4DB2-BD59-A6C34878D82A}">
                    <a16:rowId xmlns:a16="http://schemas.microsoft.com/office/drawing/2014/main" val="3343317767"/>
                  </a:ext>
                </a:extLst>
              </a:tr>
              <a:tr h="370840">
                <a:tc>
                  <a:txBody>
                    <a:bodyPr/>
                    <a:lstStyle/>
                    <a:p>
                      <a:pPr>
                        <a:buNone/>
                      </a:pPr>
                      <a:r>
                        <a:rPr lang="en-IN"/>
                        <a:t>3</a:t>
                      </a:r>
                    </a:p>
                  </a:txBody>
                  <a:tcPr anchor="ctr"/>
                </a:tc>
                <a:tc>
                  <a:txBody>
                    <a:bodyPr/>
                    <a:lstStyle/>
                    <a:p>
                      <a:pPr>
                        <a:buNone/>
                      </a:pPr>
                      <a:r>
                        <a:rPr lang="en-IN" b="1" dirty="0"/>
                        <a:t>Dataset Overview</a:t>
                      </a:r>
                      <a:endParaRPr lang="en-IN" dirty="0"/>
                    </a:p>
                  </a:txBody>
                  <a:tcPr anchor="ctr"/>
                </a:tc>
                <a:tc>
                  <a:txBody>
                    <a:bodyPr/>
                    <a:lstStyle/>
                    <a:p>
                      <a:pPr>
                        <a:buNone/>
                      </a:pPr>
                      <a:r>
                        <a:rPr lang="en-IN"/>
                        <a:t>5</a:t>
                      </a:r>
                    </a:p>
                  </a:txBody>
                  <a:tcPr anchor="ctr"/>
                </a:tc>
                <a:extLst>
                  <a:ext uri="{0D108BD9-81ED-4DB2-BD59-A6C34878D82A}">
                    <a16:rowId xmlns:a16="http://schemas.microsoft.com/office/drawing/2014/main" val="163053232"/>
                  </a:ext>
                </a:extLst>
              </a:tr>
              <a:tr h="370840">
                <a:tc>
                  <a:txBody>
                    <a:bodyPr/>
                    <a:lstStyle/>
                    <a:p>
                      <a:pPr>
                        <a:buNone/>
                      </a:pPr>
                      <a:r>
                        <a:rPr lang="en-IN"/>
                        <a:t>4</a:t>
                      </a:r>
                    </a:p>
                  </a:txBody>
                  <a:tcPr anchor="ctr"/>
                </a:tc>
                <a:tc>
                  <a:txBody>
                    <a:bodyPr/>
                    <a:lstStyle/>
                    <a:p>
                      <a:pPr>
                        <a:buNone/>
                      </a:pPr>
                      <a:r>
                        <a:rPr lang="en-IN" b="1"/>
                        <a:t>Project Workflow</a:t>
                      </a:r>
                      <a:endParaRPr lang="en-IN"/>
                    </a:p>
                  </a:txBody>
                  <a:tcPr anchor="ctr"/>
                </a:tc>
                <a:tc>
                  <a:txBody>
                    <a:bodyPr/>
                    <a:lstStyle/>
                    <a:p>
                      <a:pPr>
                        <a:buNone/>
                      </a:pPr>
                      <a:r>
                        <a:rPr lang="en-IN"/>
                        <a:t>6</a:t>
                      </a:r>
                    </a:p>
                  </a:txBody>
                  <a:tcPr anchor="ctr"/>
                </a:tc>
                <a:extLst>
                  <a:ext uri="{0D108BD9-81ED-4DB2-BD59-A6C34878D82A}">
                    <a16:rowId xmlns:a16="http://schemas.microsoft.com/office/drawing/2014/main" val="1886647421"/>
                  </a:ext>
                </a:extLst>
              </a:tr>
              <a:tr h="370840">
                <a:tc>
                  <a:txBody>
                    <a:bodyPr/>
                    <a:lstStyle/>
                    <a:p>
                      <a:pPr>
                        <a:buNone/>
                      </a:pPr>
                      <a:r>
                        <a:rPr lang="en-IN"/>
                        <a:t>5</a:t>
                      </a:r>
                    </a:p>
                  </a:txBody>
                  <a:tcPr anchor="ctr"/>
                </a:tc>
                <a:tc>
                  <a:txBody>
                    <a:bodyPr/>
                    <a:lstStyle/>
                    <a:p>
                      <a:pPr>
                        <a:buNone/>
                      </a:pPr>
                      <a:r>
                        <a:rPr lang="en-IN" b="1"/>
                        <a:t>Methodology - EDA</a:t>
                      </a:r>
                      <a:endParaRPr lang="en-IN"/>
                    </a:p>
                  </a:txBody>
                  <a:tcPr anchor="ctr"/>
                </a:tc>
                <a:tc>
                  <a:txBody>
                    <a:bodyPr/>
                    <a:lstStyle/>
                    <a:p>
                      <a:pPr>
                        <a:buNone/>
                      </a:pPr>
                      <a:r>
                        <a:rPr lang="en-IN"/>
                        <a:t>7</a:t>
                      </a:r>
                    </a:p>
                  </a:txBody>
                  <a:tcPr anchor="ctr"/>
                </a:tc>
                <a:extLst>
                  <a:ext uri="{0D108BD9-81ED-4DB2-BD59-A6C34878D82A}">
                    <a16:rowId xmlns:a16="http://schemas.microsoft.com/office/drawing/2014/main" val="2486407831"/>
                  </a:ext>
                </a:extLst>
              </a:tr>
              <a:tr h="370840">
                <a:tc>
                  <a:txBody>
                    <a:bodyPr/>
                    <a:lstStyle/>
                    <a:p>
                      <a:pPr>
                        <a:buNone/>
                      </a:pPr>
                      <a:r>
                        <a:rPr lang="en-IN"/>
                        <a:t>6</a:t>
                      </a:r>
                    </a:p>
                  </a:txBody>
                  <a:tcPr anchor="ctr"/>
                </a:tc>
                <a:tc>
                  <a:txBody>
                    <a:bodyPr/>
                    <a:lstStyle/>
                    <a:p>
                      <a:pPr>
                        <a:buNone/>
                      </a:pPr>
                      <a:r>
                        <a:rPr lang="en-IN" b="1"/>
                        <a:t>Model 1: VGG16 Architecture</a:t>
                      </a:r>
                      <a:endParaRPr lang="en-IN"/>
                    </a:p>
                  </a:txBody>
                  <a:tcPr anchor="ctr"/>
                </a:tc>
                <a:tc>
                  <a:txBody>
                    <a:bodyPr/>
                    <a:lstStyle/>
                    <a:p>
                      <a:pPr>
                        <a:buNone/>
                      </a:pPr>
                      <a:r>
                        <a:rPr lang="en-IN"/>
                        <a:t>8</a:t>
                      </a:r>
                    </a:p>
                  </a:txBody>
                  <a:tcPr anchor="ctr"/>
                </a:tc>
                <a:extLst>
                  <a:ext uri="{0D108BD9-81ED-4DB2-BD59-A6C34878D82A}">
                    <a16:rowId xmlns:a16="http://schemas.microsoft.com/office/drawing/2014/main" val="4006801270"/>
                  </a:ext>
                </a:extLst>
              </a:tr>
              <a:tr h="370840">
                <a:tc>
                  <a:txBody>
                    <a:bodyPr/>
                    <a:lstStyle/>
                    <a:p>
                      <a:pPr>
                        <a:buNone/>
                      </a:pPr>
                      <a:r>
                        <a:rPr lang="en-IN"/>
                        <a:t>7</a:t>
                      </a:r>
                    </a:p>
                  </a:txBody>
                  <a:tcPr anchor="ctr"/>
                </a:tc>
                <a:tc>
                  <a:txBody>
                    <a:bodyPr/>
                    <a:lstStyle/>
                    <a:p>
                      <a:pPr>
                        <a:buNone/>
                      </a:pPr>
                      <a:r>
                        <a:rPr lang="en-IN" b="1"/>
                        <a:t>Model 1: VGG16 Performance</a:t>
                      </a:r>
                      <a:endParaRPr lang="en-IN"/>
                    </a:p>
                  </a:txBody>
                  <a:tcPr anchor="ctr"/>
                </a:tc>
                <a:tc>
                  <a:txBody>
                    <a:bodyPr/>
                    <a:lstStyle/>
                    <a:p>
                      <a:pPr>
                        <a:buNone/>
                      </a:pPr>
                      <a:r>
                        <a:rPr lang="en-IN"/>
                        <a:t>9</a:t>
                      </a:r>
                    </a:p>
                  </a:txBody>
                  <a:tcPr anchor="ctr"/>
                </a:tc>
                <a:extLst>
                  <a:ext uri="{0D108BD9-81ED-4DB2-BD59-A6C34878D82A}">
                    <a16:rowId xmlns:a16="http://schemas.microsoft.com/office/drawing/2014/main" val="1802694292"/>
                  </a:ext>
                </a:extLst>
              </a:tr>
              <a:tr h="370840">
                <a:tc>
                  <a:txBody>
                    <a:bodyPr/>
                    <a:lstStyle/>
                    <a:p>
                      <a:pPr>
                        <a:buNone/>
                      </a:pPr>
                      <a:r>
                        <a:rPr lang="en-IN"/>
                        <a:t>8</a:t>
                      </a:r>
                    </a:p>
                  </a:txBody>
                  <a:tcPr anchor="ctr"/>
                </a:tc>
                <a:tc>
                  <a:txBody>
                    <a:bodyPr/>
                    <a:lstStyle/>
                    <a:p>
                      <a:pPr>
                        <a:buNone/>
                      </a:pPr>
                      <a:r>
                        <a:rPr lang="en-IN" b="1"/>
                        <a:t>Model 2: FastAI ResNet18</a:t>
                      </a:r>
                      <a:endParaRPr lang="en-IN"/>
                    </a:p>
                  </a:txBody>
                  <a:tcPr anchor="ctr"/>
                </a:tc>
                <a:tc>
                  <a:txBody>
                    <a:bodyPr/>
                    <a:lstStyle/>
                    <a:p>
                      <a:pPr>
                        <a:buNone/>
                      </a:pPr>
                      <a:r>
                        <a:rPr lang="en-IN"/>
                        <a:t>10</a:t>
                      </a:r>
                    </a:p>
                  </a:txBody>
                  <a:tcPr anchor="ctr"/>
                </a:tc>
                <a:extLst>
                  <a:ext uri="{0D108BD9-81ED-4DB2-BD59-A6C34878D82A}">
                    <a16:rowId xmlns:a16="http://schemas.microsoft.com/office/drawing/2014/main" val="1109540464"/>
                  </a:ext>
                </a:extLst>
              </a:tr>
              <a:tr h="370840">
                <a:tc>
                  <a:txBody>
                    <a:bodyPr/>
                    <a:lstStyle/>
                    <a:p>
                      <a:pPr>
                        <a:buNone/>
                      </a:pPr>
                      <a:r>
                        <a:rPr lang="en-IN"/>
                        <a:t>9</a:t>
                      </a:r>
                    </a:p>
                  </a:txBody>
                  <a:tcPr anchor="ctr"/>
                </a:tc>
                <a:tc>
                  <a:txBody>
                    <a:bodyPr/>
                    <a:lstStyle/>
                    <a:p>
                      <a:pPr>
                        <a:buNone/>
                      </a:pPr>
                      <a:r>
                        <a:rPr lang="en-IN" b="1"/>
                        <a:t>Model 2: Performance Analysis</a:t>
                      </a:r>
                      <a:endParaRPr lang="en-IN"/>
                    </a:p>
                  </a:txBody>
                  <a:tcPr anchor="ctr"/>
                </a:tc>
                <a:tc>
                  <a:txBody>
                    <a:bodyPr/>
                    <a:lstStyle/>
                    <a:p>
                      <a:pPr>
                        <a:buNone/>
                      </a:pPr>
                      <a:r>
                        <a:rPr lang="en-IN"/>
                        <a:t>11</a:t>
                      </a:r>
                    </a:p>
                  </a:txBody>
                  <a:tcPr anchor="ctr"/>
                </a:tc>
                <a:extLst>
                  <a:ext uri="{0D108BD9-81ED-4DB2-BD59-A6C34878D82A}">
                    <a16:rowId xmlns:a16="http://schemas.microsoft.com/office/drawing/2014/main" val="2224611813"/>
                  </a:ext>
                </a:extLst>
              </a:tr>
              <a:tr h="370840">
                <a:tc>
                  <a:txBody>
                    <a:bodyPr/>
                    <a:lstStyle/>
                    <a:p>
                      <a:pPr>
                        <a:buNone/>
                      </a:pPr>
                      <a:r>
                        <a:rPr lang="en-IN"/>
                        <a:t>10</a:t>
                      </a:r>
                    </a:p>
                  </a:txBody>
                  <a:tcPr anchor="ctr"/>
                </a:tc>
                <a:tc>
                  <a:txBody>
                    <a:bodyPr/>
                    <a:lstStyle/>
                    <a:p>
                      <a:pPr>
                        <a:buNone/>
                      </a:pPr>
                      <a:r>
                        <a:rPr lang="en-IN" b="1"/>
                        <a:t>Comparative Analysis</a:t>
                      </a:r>
                      <a:endParaRPr lang="en-IN"/>
                    </a:p>
                  </a:txBody>
                  <a:tcPr anchor="ctr"/>
                </a:tc>
                <a:tc>
                  <a:txBody>
                    <a:bodyPr/>
                    <a:lstStyle/>
                    <a:p>
                      <a:pPr>
                        <a:buNone/>
                      </a:pPr>
                      <a:r>
                        <a:rPr lang="en-IN"/>
                        <a:t>12</a:t>
                      </a:r>
                    </a:p>
                  </a:txBody>
                  <a:tcPr anchor="ctr"/>
                </a:tc>
                <a:extLst>
                  <a:ext uri="{0D108BD9-81ED-4DB2-BD59-A6C34878D82A}">
                    <a16:rowId xmlns:a16="http://schemas.microsoft.com/office/drawing/2014/main" val="2721471840"/>
                  </a:ext>
                </a:extLst>
              </a:tr>
              <a:tr h="370840">
                <a:tc>
                  <a:txBody>
                    <a:bodyPr/>
                    <a:lstStyle/>
                    <a:p>
                      <a:pPr>
                        <a:buNone/>
                      </a:pPr>
                      <a:r>
                        <a:rPr lang="en-IN"/>
                        <a:t>11</a:t>
                      </a:r>
                    </a:p>
                  </a:txBody>
                  <a:tcPr anchor="ctr"/>
                </a:tc>
                <a:tc>
                  <a:txBody>
                    <a:bodyPr/>
                    <a:lstStyle/>
                    <a:p>
                      <a:pPr>
                        <a:buNone/>
                      </a:pPr>
                      <a:r>
                        <a:rPr lang="en-IN" b="1"/>
                        <a:t>References</a:t>
                      </a:r>
                      <a:endParaRPr lang="en-IN"/>
                    </a:p>
                  </a:txBody>
                  <a:tcPr anchor="ctr"/>
                </a:tc>
                <a:tc>
                  <a:txBody>
                    <a:bodyPr/>
                    <a:lstStyle/>
                    <a:p>
                      <a:pPr>
                        <a:buNone/>
                      </a:pPr>
                      <a:r>
                        <a:rPr lang="en-IN"/>
                        <a:t>13</a:t>
                      </a:r>
                    </a:p>
                  </a:txBody>
                  <a:tcPr anchor="ctr"/>
                </a:tc>
                <a:extLst>
                  <a:ext uri="{0D108BD9-81ED-4DB2-BD59-A6C34878D82A}">
                    <a16:rowId xmlns:a16="http://schemas.microsoft.com/office/drawing/2014/main" val="4107991519"/>
                  </a:ext>
                </a:extLst>
              </a:tr>
              <a:tr h="370840">
                <a:tc>
                  <a:txBody>
                    <a:bodyPr/>
                    <a:lstStyle/>
                    <a:p>
                      <a:pPr>
                        <a:buNone/>
                      </a:pPr>
                      <a:r>
                        <a:rPr lang="en-IN"/>
                        <a:t>12</a:t>
                      </a:r>
                    </a:p>
                  </a:txBody>
                  <a:tcPr anchor="ctr"/>
                </a:tc>
                <a:tc>
                  <a:txBody>
                    <a:bodyPr/>
                    <a:lstStyle/>
                    <a:p>
                      <a:pPr>
                        <a:buNone/>
                      </a:pPr>
                      <a:r>
                        <a:rPr lang="en-IN" b="1" dirty="0"/>
                        <a:t>Thank You &amp; Certificates</a:t>
                      </a:r>
                      <a:endParaRPr lang="en-IN" dirty="0"/>
                    </a:p>
                  </a:txBody>
                  <a:tcPr anchor="ctr"/>
                </a:tc>
                <a:tc>
                  <a:txBody>
                    <a:bodyPr/>
                    <a:lstStyle/>
                    <a:p>
                      <a:pPr>
                        <a:buNone/>
                      </a:pPr>
                      <a:r>
                        <a:rPr lang="en-IN" dirty="0"/>
                        <a:t>14</a:t>
                      </a:r>
                    </a:p>
                  </a:txBody>
                  <a:tcPr anchor="ctr"/>
                </a:tc>
                <a:extLst>
                  <a:ext uri="{0D108BD9-81ED-4DB2-BD59-A6C34878D82A}">
                    <a16:rowId xmlns:a16="http://schemas.microsoft.com/office/drawing/2014/main" val="2218328784"/>
                  </a:ext>
                </a:extLst>
              </a:tr>
            </a:tbl>
          </a:graphicData>
        </a:graphic>
      </p:graphicFrame>
      <p:pic>
        <p:nvPicPr>
          <p:cNvPr id="4" name="Picture 3" descr="A blue and red text on a black background&#10;&#10;AI-generated content may be incorrect.">
            <a:extLst>
              <a:ext uri="{FF2B5EF4-FFF2-40B4-BE49-F238E27FC236}">
                <a16:creationId xmlns:a16="http://schemas.microsoft.com/office/drawing/2014/main" id="{E53C78B2-7A78-8379-D17C-44D7BF13B1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16422" y="657542"/>
            <a:ext cx="1991079" cy="664997"/>
          </a:xfrm>
          <a:prstGeom prst="rect">
            <a:avLst/>
          </a:prstGeom>
        </p:spPr>
      </p:pic>
    </p:spTree>
    <p:extLst>
      <p:ext uri="{BB962C8B-B14F-4D97-AF65-F5344CB8AC3E}">
        <p14:creationId xmlns:p14="http://schemas.microsoft.com/office/powerpoint/2010/main" val="15059769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F6305B-4D4D-DE15-ADD2-373697CCFE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821072-37D3-74CD-C67B-719D2995FBD8}"/>
              </a:ext>
            </a:extLst>
          </p:cNvPr>
          <p:cNvSpPr>
            <a:spLocks noGrp="1"/>
          </p:cNvSpPr>
          <p:nvPr>
            <p:ph type="title"/>
          </p:nvPr>
        </p:nvSpPr>
        <p:spPr/>
        <p:txBody>
          <a:bodyPr/>
          <a:lstStyle/>
          <a:p>
            <a:r>
              <a:rPr lang="en-US"/>
              <a:t>Introduction</a:t>
            </a:r>
            <a:endParaRPr lang="en-IN" dirty="0"/>
          </a:p>
        </p:txBody>
      </p:sp>
      <p:sp>
        <p:nvSpPr>
          <p:cNvPr id="3" name="Content Placeholder 2">
            <a:extLst>
              <a:ext uri="{FF2B5EF4-FFF2-40B4-BE49-F238E27FC236}">
                <a16:creationId xmlns:a16="http://schemas.microsoft.com/office/drawing/2014/main" id="{DFCEEB89-7BBC-6F60-C66F-7E4E7AAC96EA}"/>
              </a:ext>
            </a:extLst>
          </p:cNvPr>
          <p:cNvSpPr>
            <a:spLocks noGrp="1"/>
          </p:cNvSpPr>
          <p:nvPr>
            <p:ph idx="1"/>
          </p:nvPr>
        </p:nvSpPr>
        <p:spPr>
          <a:xfrm>
            <a:off x="838200" y="1825625"/>
            <a:ext cx="6089650" cy="4351338"/>
          </a:xfrm>
        </p:spPr>
        <p:txBody>
          <a:bodyPr>
            <a:normAutofit/>
          </a:bodyPr>
          <a:lstStyle/>
          <a:p>
            <a:r>
              <a:rPr lang="en-US" sz="1600"/>
              <a:t>Waste management is a critical global challenge, and efficient segregation plays a key role in promoting recycling, reducing pollution, and supporting sustainable development. Traditional waste sorting is often manual, time-consuming, and prone to human error.</a:t>
            </a:r>
          </a:p>
          <a:p>
            <a:r>
              <a:rPr lang="en-US" sz="1600"/>
              <a:t>To address these limitations, this project focuses on developing an automated </a:t>
            </a:r>
            <a:r>
              <a:rPr lang="en-US" sz="1600" b="1"/>
              <a:t>Waste Classification Model</a:t>
            </a:r>
            <a:r>
              <a:rPr lang="en-US" sz="1600"/>
              <a:t> using machine learning. By analysing waste images and categorizing them into predefined classes, the model aims to improve the accuracy and speed of waste segregation. This solution can support smart cities, enhance recycling processes, and reduce the overall environmental impact.</a:t>
            </a:r>
            <a:endParaRPr lang="en-IN" sz="1600" dirty="0"/>
          </a:p>
        </p:txBody>
      </p:sp>
      <p:pic>
        <p:nvPicPr>
          <p:cNvPr id="4" name="Picture 3" descr="A blue and red text on a black background&#10;&#10;AI-generated content may be incorrect.">
            <a:extLst>
              <a:ext uri="{FF2B5EF4-FFF2-40B4-BE49-F238E27FC236}">
                <a16:creationId xmlns:a16="http://schemas.microsoft.com/office/drawing/2014/main" id="{6567DAF2-857A-8FE0-04E0-8C7D27F303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16422" y="657542"/>
            <a:ext cx="1991079" cy="664997"/>
          </a:xfrm>
          <a:prstGeom prst="rect">
            <a:avLst/>
          </a:prstGeom>
        </p:spPr>
      </p:pic>
      <p:pic>
        <p:nvPicPr>
          <p:cNvPr id="1026" name="Picture 2" descr="Waste classification Images - Free Download on Freepik">
            <a:extLst>
              <a:ext uri="{FF2B5EF4-FFF2-40B4-BE49-F238E27FC236}">
                <a16:creationId xmlns:a16="http://schemas.microsoft.com/office/drawing/2014/main" id="{B2939A37-E47E-4D7E-96C1-BCFD8E30A3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00286" y="2145453"/>
            <a:ext cx="5091714" cy="25670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170245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70612-DB12-A8F3-A020-AB10B97D85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FE490C-B4A5-6B1C-EBF3-C4033C21C77C}"/>
              </a:ext>
            </a:extLst>
          </p:cNvPr>
          <p:cNvSpPr>
            <a:spLocks noGrp="1"/>
          </p:cNvSpPr>
          <p:nvPr>
            <p:ph type="title"/>
          </p:nvPr>
        </p:nvSpPr>
        <p:spPr>
          <a:xfrm>
            <a:off x="838200" y="185430"/>
            <a:ext cx="10515600" cy="1325563"/>
          </a:xfrm>
        </p:spPr>
        <p:txBody>
          <a:bodyPr/>
          <a:lstStyle/>
          <a:p>
            <a:r>
              <a:rPr lang="en-US" dirty="0"/>
              <a:t>Literature Review </a:t>
            </a:r>
            <a:br>
              <a:rPr lang="en-US" dirty="0"/>
            </a:br>
            <a:r>
              <a:rPr lang="en-US" sz="2400" dirty="0"/>
              <a:t>(NOTE: Add Minimum 5 Research Papers)</a:t>
            </a:r>
            <a:r>
              <a:rPr lang="en-US" dirty="0"/>
              <a:t> </a:t>
            </a:r>
            <a:endParaRPr lang="en-IN" dirty="0"/>
          </a:p>
        </p:txBody>
      </p:sp>
      <p:graphicFrame>
        <p:nvGraphicFramePr>
          <p:cNvPr id="5" name="Content Placeholder 4">
            <a:extLst>
              <a:ext uri="{FF2B5EF4-FFF2-40B4-BE49-F238E27FC236}">
                <a16:creationId xmlns:a16="http://schemas.microsoft.com/office/drawing/2014/main" id="{4EBFDE4E-447E-A9F4-FA41-6685F8E87D84}"/>
              </a:ext>
            </a:extLst>
          </p:cNvPr>
          <p:cNvGraphicFramePr>
            <a:graphicFrameLocks noGrp="1"/>
          </p:cNvGraphicFramePr>
          <p:nvPr>
            <p:ph idx="1"/>
            <p:extLst>
              <p:ext uri="{D42A27DB-BD31-4B8C-83A1-F6EECF244321}">
                <p14:modId xmlns:p14="http://schemas.microsoft.com/office/powerpoint/2010/main" val="206396943"/>
              </p:ext>
            </p:extLst>
          </p:nvPr>
        </p:nvGraphicFramePr>
        <p:xfrm>
          <a:off x="809625" y="1510993"/>
          <a:ext cx="10544175" cy="4628269"/>
        </p:xfrm>
        <a:graphic>
          <a:graphicData uri="http://schemas.openxmlformats.org/drawingml/2006/table">
            <a:tbl>
              <a:tblPr firstRow="1" bandRow="1">
                <a:tableStyleId>{5C22544A-7EE6-4342-B048-85BDC9FD1C3A}</a:tableStyleId>
              </a:tblPr>
              <a:tblGrid>
                <a:gridCol w="2131695">
                  <a:extLst>
                    <a:ext uri="{9D8B030D-6E8A-4147-A177-3AD203B41FA5}">
                      <a16:colId xmlns:a16="http://schemas.microsoft.com/office/drawing/2014/main" val="3876319918"/>
                    </a:ext>
                  </a:extLst>
                </a:gridCol>
                <a:gridCol w="2103120">
                  <a:extLst>
                    <a:ext uri="{9D8B030D-6E8A-4147-A177-3AD203B41FA5}">
                      <a16:colId xmlns:a16="http://schemas.microsoft.com/office/drawing/2014/main" val="624070574"/>
                    </a:ext>
                  </a:extLst>
                </a:gridCol>
                <a:gridCol w="2103120">
                  <a:extLst>
                    <a:ext uri="{9D8B030D-6E8A-4147-A177-3AD203B41FA5}">
                      <a16:colId xmlns:a16="http://schemas.microsoft.com/office/drawing/2014/main" val="906980846"/>
                    </a:ext>
                  </a:extLst>
                </a:gridCol>
                <a:gridCol w="2103120">
                  <a:extLst>
                    <a:ext uri="{9D8B030D-6E8A-4147-A177-3AD203B41FA5}">
                      <a16:colId xmlns:a16="http://schemas.microsoft.com/office/drawing/2014/main" val="4042873965"/>
                    </a:ext>
                  </a:extLst>
                </a:gridCol>
                <a:gridCol w="2103120">
                  <a:extLst>
                    <a:ext uri="{9D8B030D-6E8A-4147-A177-3AD203B41FA5}">
                      <a16:colId xmlns:a16="http://schemas.microsoft.com/office/drawing/2014/main" val="1875319800"/>
                    </a:ext>
                  </a:extLst>
                </a:gridCol>
              </a:tblGrid>
              <a:tr h="460481">
                <a:tc>
                  <a:txBody>
                    <a:bodyPr/>
                    <a:lstStyle/>
                    <a:p>
                      <a:pPr>
                        <a:buNone/>
                      </a:pPr>
                      <a:r>
                        <a:rPr lang="en-IN" sz="1200"/>
                        <a:t>Sr.No.</a:t>
                      </a:r>
                    </a:p>
                  </a:txBody>
                  <a:tcPr anchor="ctr"/>
                </a:tc>
                <a:tc>
                  <a:txBody>
                    <a:bodyPr/>
                    <a:lstStyle/>
                    <a:p>
                      <a:pPr>
                        <a:buNone/>
                      </a:pPr>
                      <a:r>
                        <a:rPr lang="en-IN" sz="1200"/>
                        <a:t>Title &amp; Authors</a:t>
                      </a:r>
                    </a:p>
                  </a:txBody>
                  <a:tcPr anchor="ctr"/>
                </a:tc>
                <a:tc>
                  <a:txBody>
                    <a:bodyPr/>
                    <a:lstStyle/>
                    <a:p>
                      <a:pPr>
                        <a:buNone/>
                      </a:pPr>
                      <a:r>
                        <a:rPr lang="en-IN" sz="1200" dirty="0"/>
                        <a:t>Dataset</a:t>
                      </a:r>
                    </a:p>
                  </a:txBody>
                  <a:tcPr anchor="ctr"/>
                </a:tc>
                <a:tc>
                  <a:txBody>
                    <a:bodyPr/>
                    <a:lstStyle/>
                    <a:p>
                      <a:pPr>
                        <a:buNone/>
                      </a:pPr>
                      <a:r>
                        <a:rPr lang="en-IN" sz="1200"/>
                        <a:t>Work Done</a:t>
                      </a:r>
                    </a:p>
                  </a:txBody>
                  <a:tcPr anchor="ctr"/>
                </a:tc>
                <a:tc>
                  <a:txBody>
                    <a:bodyPr/>
                    <a:lstStyle/>
                    <a:p>
                      <a:pPr>
                        <a:buNone/>
                      </a:pPr>
                      <a:r>
                        <a:rPr lang="en-IN" sz="1200"/>
                        <a:t>Limitation/Future Work</a:t>
                      </a:r>
                    </a:p>
                  </a:txBody>
                  <a:tcPr anchor="ctr"/>
                </a:tc>
                <a:extLst>
                  <a:ext uri="{0D108BD9-81ED-4DB2-BD59-A6C34878D82A}">
                    <a16:rowId xmlns:a16="http://schemas.microsoft.com/office/drawing/2014/main" val="1391498550"/>
                  </a:ext>
                </a:extLst>
              </a:tr>
              <a:tr h="693068">
                <a:tc>
                  <a:txBody>
                    <a:bodyPr/>
                    <a:lstStyle/>
                    <a:p>
                      <a:pPr>
                        <a:buNone/>
                      </a:pPr>
                      <a:r>
                        <a:rPr lang="en-IN" sz="1200"/>
                        <a:t>1</a:t>
                      </a:r>
                    </a:p>
                  </a:txBody>
                  <a:tcPr anchor="ctr"/>
                </a:tc>
                <a:tc>
                  <a:txBody>
                    <a:bodyPr/>
                    <a:lstStyle/>
                    <a:p>
                      <a:pPr>
                        <a:buNone/>
                      </a:pPr>
                      <a:r>
                        <a:rPr lang="en-US" sz="1200" dirty="0"/>
                        <a:t>"Waste Classification using Deep Learning" - Zhang et al. (2020)</a:t>
                      </a:r>
                    </a:p>
                  </a:txBody>
                  <a:tcPr anchor="ctr"/>
                </a:tc>
                <a:tc>
                  <a:txBody>
                    <a:bodyPr/>
                    <a:lstStyle/>
                    <a:p>
                      <a:pPr>
                        <a:buNone/>
                      </a:pPr>
                      <a:r>
                        <a:rPr lang="en-IN" sz="1200" dirty="0" err="1"/>
                        <a:t>TrashNet</a:t>
                      </a:r>
                      <a:r>
                        <a:rPr lang="en-IN" sz="1200" dirty="0"/>
                        <a:t> Dataset (2527 images)</a:t>
                      </a:r>
                    </a:p>
                  </a:txBody>
                  <a:tcPr anchor="ctr"/>
                </a:tc>
                <a:tc>
                  <a:txBody>
                    <a:bodyPr/>
                    <a:lstStyle/>
                    <a:p>
                      <a:pPr>
                        <a:buNone/>
                      </a:pPr>
                      <a:r>
                        <a:rPr lang="en-US" sz="1200"/>
                        <a:t>CNN-based classification with 6 waste categories using ResNet-50</a:t>
                      </a:r>
                    </a:p>
                  </a:txBody>
                  <a:tcPr anchor="ctr"/>
                </a:tc>
                <a:tc>
                  <a:txBody>
                    <a:bodyPr/>
                    <a:lstStyle/>
                    <a:p>
                      <a:pPr>
                        <a:buNone/>
                      </a:pPr>
                      <a:r>
                        <a:rPr lang="en-US" sz="1200"/>
                        <a:t>Limited dataset size; need for real-time deployment optimization</a:t>
                      </a:r>
                    </a:p>
                  </a:txBody>
                  <a:tcPr anchor="ctr"/>
                </a:tc>
                <a:extLst>
                  <a:ext uri="{0D108BD9-81ED-4DB2-BD59-A6C34878D82A}">
                    <a16:rowId xmlns:a16="http://schemas.microsoft.com/office/drawing/2014/main" val="4218747750"/>
                  </a:ext>
                </a:extLst>
              </a:tr>
              <a:tr h="693068">
                <a:tc>
                  <a:txBody>
                    <a:bodyPr/>
                    <a:lstStyle/>
                    <a:p>
                      <a:pPr>
                        <a:buNone/>
                      </a:pPr>
                      <a:r>
                        <a:rPr lang="en-IN" sz="1200"/>
                        <a:t>2</a:t>
                      </a:r>
                    </a:p>
                  </a:txBody>
                  <a:tcPr anchor="ctr"/>
                </a:tc>
                <a:tc>
                  <a:txBody>
                    <a:bodyPr/>
                    <a:lstStyle/>
                    <a:p>
                      <a:pPr>
                        <a:buNone/>
                      </a:pPr>
                      <a:r>
                        <a:rPr lang="en-US" sz="1200"/>
                        <a:t>"Automatic Waste Segregation using Image Processing and Machine Learning" - Kumar &amp; Singh (2019)</a:t>
                      </a:r>
                    </a:p>
                  </a:txBody>
                  <a:tcPr anchor="ctr"/>
                </a:tc>
                <a:tc>
                  <a:txBody>
                    <a:bodyPr/>
                    <a:lstStyle/>
                    <a:p>
                      <a:pPr>
                        <a:buNone/>
                      </a:pPr>
                      <a:r>
                        <a:rPr lang="en-IN" sz="1200" dirty="0"/>
                        <a:t>Custom dataset (5000 images)</a:t>
                      </a:r>
                    </a:p>
                  </a:txBody>
                  <a:tcPr anchor="ctr"/>
                </a:tc>
                <a:tc>
                  <a:txBody>
                    <a:bodyPr/>
                    <a:lstStyle/>
                    <a:p>
                      <a:pPr>
                        <a:buNone/>
                      </a:pPr>
                      <a:r>
                        <a:rPr lang="en-US" sz="1200" dirty="0"/>
                        <a:t>SVM with HOG features achieving 87% accuracy</a:t>
                      </a:r>
                    </a:p>
                  </a:txBody>
                  <a:tcPr anchor="ctr"/>
                </a:tc>
                <a:tc>
                  <a:txBody>
                    <a:bodyPr/>
                    <a:lstStyle/>
                    <a:p>
                      <a:pPr>
                        <a:buNone/>
                      </a:pPr>
                      <a:r>
                        <a:rPr lang="en-US" sz="1200"/>
                        <a:t>Lower accuracy; manual feature engineering required</a:t>
                      </a:r>
                    </a:p>
                  </a:txBody>
                  <a:tcPr anchor="ctr"/>
                </a:tc>
                <a:extLst>
                  <a:ext uri="{0D108BD9-81ED-4DB2-BD59-A6C34878D82A}">
                    <a16:rowId xmlns:a16="http://schemas.microsoft.com/office/drawing/2014/main" val="2187931870"/>
                  </a:ext>
                </a:extLst>
              </a:tr>
              <a:tr h="693068">
                <a:tc>
                  <a:txBody>
                    <a:bodyPr/>
                    <a:lstStyle/>
                    <a:p>
                      <a:pPr>
                        <a:buNone/>
                      </a:pPr>
                      <a:r>
                        <a:rPr lang="en-IN" sz="1200"/>
                        <a:t>3</a:t>
                      </a:r>
                    </a:p>
                  </a:txBody>
                  <a:tcPr anchor="ctr"/>
                </a:tc>
                <a:tc>
                  <a:txBody>
                    <a:bodyPr/>
                    <a:lstStyle/>
                    <a:p>
                      <a:pPr>
                        <a:buNone/>
                      </a:pPr>
                      <a:r>
                        <a:rPr lang="en-US" sz="1200"/>
                        <a:t>"Deep Learning Approach for Intelligent Waste Classification" - Park et al. (2021)</a:t>
                      </a:r>
                    </a:p>
                  </a:txBody>
                  <a:tcPr anchor="ctr"/>
                </a:tc>
                <a:tc>
                  <a:txBody>
                    <a:bodyPr/>
                    <a:lstStyle/>
                    <a:p>
                      <a:pPr>
                        <a:buNone/>
                      </a:pPr>
                      <a:r>
                        <a:rPr lang="en-IN" sz="1200"/>
                        <a:t>RecycleNet (15,000 images)</a:t>
                      </a:r>
                    </a:p>
                  </a:txBody>
                  <a:tcPr anchor="ctr"/>
                </a:tc>
                <a:tc>
                  <a:txBody>
                    <a:bodyPr/>
                    <a:lstStyle/>
                    <a:p>
                      <a:pPr>
                        <a:buNone/>
                      </a:pPr>
                      <a:r>
                        <a:rPr lang="en-US" sz="1200" dirty="0"/>
                        <a:t>VGG-16 and Inception-v3 comparison, best accuracy 92%</a:t>
                      </a:r>
                    </a:p>
                  </a:txBody>
                  <a:tcPr anchor="ctr"/>
                </a:tc>
                <a:tc>
                  <a:txBody>
                    <a:bodyPr/>
                    <a:lstStyle/>
                    <a:p>
                      <a:pPr>
                        <a:buNone/>
                      </a:pPr>
                      <a:r>
                        <a:rPr lang="en-US" sz="1200" dirty="0"/>
                        <a:t>Single model approach; no ensemble methods explored</a:t>
                      </a:r>
                    </a:p>
                  </a:txBody>
                  <a:tcPr anchor="ctr"/>
                </a:tc>
                <a:extLst>
                  <a:ext uri="{0D108BD9-81ED-4DB2-BD59-A6C34878D82A}">
                    <a16:rowId xmlns:a16="http://schemas.microsoft.com/office/drawing/2014/main" val="4245456343"/>
                  </a:ext>
                </a:extLst>
              </a:tr>
              <a:tr h="693068">
                <a:tc>
                  <a:txBody>
                    <a:bodyPr/>
                    <a:lstStyle/>
                    <a:p>
                      <a:pPr>
                        <a:buNone/>
                      </a:pPr>
                      <a:r>
                        <a:rPr lang="en-IN" sz="1200"/>
                        <a:t>4</a:t>
                      </a:r>
                    </a:p>
                  </a:txBody>
                  <a:tcPr anchor="ctr"/>
                </a:tc>
                <a:tc>
                  <a:txBody>
                    <a:bodyPr/>
                    <a:lstStyle/>
                    <a:p>
                      <a:pPr>
                        <a:buNone/>
                      </a:pPr>
                      <a:r>
                        <a:rPr lang="en-US" sz="1200"/>
                        <a:t>"Transfer Learning for Waste Detection and Classification" - Ahmed &amp; Rahman (2022)</a:t>
                      </a:r>
                    </a:p>
                  </a:txBody>
                  <a:tcPr anchor="ctr"/>
                </a:tc>
                <a:tc>
                  <a:txBody>
                    <a:bodyPr/>
                    <a:lstStyle/>
                    <a:p>
                      <a:pPr>
                        <a:buNone/>
                      </a:pPr>
                      <a:r>
                        <a:rPr lang="en-IN" sz="1200"/>
                        <a:t>Waste Images Dataset (22,500 images)</a:t>
                      </a:r>
                    </a:p>
                  </a:txBody>
                  <a:tcPr anchor="ctr"/>
                </a:tc>
                <a:tc>
                  <a:txBody>
                    <a:bodyPr/>
                    <a:lstStyle/>
                    <a:p>
                      <a:pPr>
                        <a:buNone/>
                      </a:pPr>
                      <a:r>
                        <a:rPr lang="en-US" sz="1200"/>
                        <a:t>MobileNetV2 for edge deployment achieving 89.5% accuracy</a:t>
                      </a:r>
                    </a:p>
                  </a:txBody>
                  <a:tcPr anchor="ctr"/>
                </a:tc>
                <a:tc>
                  <a:txBody>
                    <a:bodyPr/>
                    <a:lstStyle/>
                    <a:p>
                      <a:pPr>
                        <a:buNone/>
                      </a:pPr>
                      <a:r>
                        <a:rPr lang="en-US" sz="1200"/>
                        <a:t>Focus on mobile optimization compromised accuracy</a:t>
                      </a:r>
                    </a:p>
                  </a:txBody>
                  <a:tcPr anchor="ctr"/>
                </a:tc>
                <a:extLst>
                  <a:ext uri="{0D108BD9-81ED-4DB2-BD59-A6C34878D82A}">
                    <a16:rowId xmlns:a16="http://schemas.microsoft.com/office/drawing/2014/main" val="4128003589"/>
                  </a:ext>
                </a:extLst>
              </a:tr>
              <a:tr h="693068">
                <a:tc>
                  <a:txBody>
                    <a:bodyPr/>
                    <a:lstStyle/>
                    <a:p>
                      <a:pPr>
                        <a:buNone/>
                      </a:pPr>
                      <a:r>
                        <a:rPr lang="en-IN" sz="1200"/>
                        <a:t>5</a:t>
                      </a:r>
                    </a:p>
                  </a:txBody>
                  <a:tcPr anchor="ctr"/>
                </a:tc>
                <a:tc>
                  <a:txBody>
                    <a:bodyPr/>
                    <a:lstStyle/>
                    <a:p>
                      <a:pPr>
                        <a:buNone/>
                      </a:pPr>
                      <a:r>
                        <a:rPr lang="en-US" sz="1200"/>
                        <a:t>"Multi-stage Deep Learning for Biodegradable Waste Recognition" - Liu et al. (2023)</a:t>
                      </a:r>
                    </a:p>
                  </a:txBody>
                  <a:tcPr anchor="ctr"/>
                </a:tc>
                <a:tc>
                  <a:txBody>
                    <a:bodyPr/>
                    <a:lstStyle/>
                    <a:p>
                      <a:pPr>
                        <a:buNone/>
                      </a:pPr>
                      <a:r>
                        <a:rPr lang="en-IN" sz="1200"/>
                        <a:t>Custom biodegradable dataset (45,000 images)</a:t>
                      </a:r>
                    </a:p>
                  </a:txBody>
                  <a:tcPr anchor="ctr"/>
                </a:tc>
                <a:tc>
                  <a:txBody>
                    <a:bodyPr/>
                    <a:lstStyle/>
                    <a:p>
                      <a:pPr>
                        <a:buNone/>
                      </a:pPr>
                      <a:r>
                        <a:rPr lang="en-US" sz="1200"/>
                        <a:t>Two-stage classification with data augmentation, 94% accuracy</a:t>
                      </a:r>
                    </a:p>
                  </a:txBody>
                  <a:tcPr anchor="ctr"/>
                </a:tc>
                <a:tc>
                  <a:txBody>
                    <a:bodyPr/>
                    <a:lstStyle/>
                    <a:p>
                      <a:pPr>
                        <a:buNone/>
                      </a:pPr>
                      <a:r>
                        <a:rPr lang="en-US" sz="1200" dirty="0"/>
                        <a:t>Complex pipeline; high computational requirements</a:t>
                      </a:r>
                    </a:p>
                  </a:txBody>
                  <a:tcPr anchor="ctr"/>
                </a:tc>
                <a:extLst>
                  <a:ext uri="{0D108BD9-81ED-4DB2-BD59-A6C34878D82A}">
                    <a16:rowId xmlns:a16="http://schemas.microsoft.com/office/drawing/2014/main" val="3566588428"/>
                  </a:ext>
                </a:extLst>
              </a:tr>
            </a:tbl>
          </a:graphicData>
        </a:graphic>
      </p:graphicFrame>
      <p:pic>
        <p:nvPicPr>
          <p:cNvPr id="4" name="Picture 3" descr="A blue and red text on a black background&#10;&#10;AI-generated content may be incorrect.">
            <a:extLst>
              <a:ext uri="{FF2B5EF4-FFF2-40B4-BE49-F238E27FC236}">
                <a16:creationId xmlns:a16="http://schemas.microsoft.com/office/drawing/2014/main" id="{00A4DDBB-D7ED-A0A4-9045-5AB0028148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16422" y="657542"/>
            <a:ext cx="1991079" cy="664997"/>
          </a:xfrm>
          <a:prstGeom prst="rect">
            <a:avLst/>
          </a:prstGeom>
        </p:spPr>
      </p:pic>
    </p:spTree>
    <p:extLst>
      <p:ext uri="{BB962C8B-B14F-4D97-AF65-F5344CB8AC3E}">
        <p14:creationId xmlns:p14="http://schemas.microsoft.com/office/powerpoint/2010/main" val="12274037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69C63A-B21D-748A-CB8C-D559BB0411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2C06A5-DDC1-DA00-C3FB-0A4D7006336B}"/>
              </a:ext>
            </a:extLst>
          </p:cNvPr>
          <p:cNvSpPr>
            <a:spLocks noGrp="1"/>
          </p:cNvSpPr>
          <p:nvPr>
            <p:ph type="title"/>
          </p:nvPr>
        </p:nvSpPr>
        <p:spPr/>
        <p:txBody>
          <a:bodyPr/>
          <a:lstStyle/>
          <a:p>
            <a:r>
              <a:rPr lang="en-US" dirty="0"/>
              <a:t>Dataset</a:t>
            </a:r>
            <a:endParaRPr lang="en-IN" dirty="0"/>
          </a:p>
        </p:txBody>
      </p:sp>
      <p:sp>
        <p:nvSpPr>
          <p:cNvPr id="3" name="Content Placeholder 2">
            <a:extLst>
              <a:ext uri="{FF2B5EF4-FFF2-40B4-BE49-F238E27FC236}">
                <a16:creationId xmlns:a16="http://schemas.microsoft.com/office/drawing/2014/main" id="{78ED422A-BA3F-0751-04A7-3D9083B08E75}"/>
              </a:ext>
            </a:extLst>
          </p:cNvPr>
          <p:cNvSpPr>
            <a:spLocks noGrp="1"/>
          </p:cNvSpPr>
          <p:nvPr>
            <p:ph idx="1"/>
          </p:nvPr>
        </p:nvSpPr>
        <p:spPr/>
        <p:txBody>
          <a:bodyPr>
            <a:normAutofit fontScale="77500" lnSpcReduction="20000"/>
          </a:bodyPr>
          <a:lstStyle/>
          <a:p>
            <a:r>
              <a:rPr lang="en-IN" b="1" dirty="0"/>
              <a:t>Source:</a:t>
            </a:r>
            <a:r>
              <a:rPr lang="en-IN" dirty="0"/>
              <a:t> Kaggle Dataset - Non and Biodegradable Waste Dataset</a:t>
            </a:r>
          </a:p>
          <a:p>
            <a:r>
              <a:rPr lang="en-IN" sz="2600" dirty="0"/>
              <a:t>https://www.kaggle.com/datasets/rayhanzamzamy/non-and-biodegradable-waste-dataset</a:t>
            </a:r>
          </a:p>
          <a:p>
            <a:r>
              <a:rPr lang="en-IN" b="1" dirty="0"/>
              <a:t>Dataset Characteristics:</a:t>
            </a:r>
            <a:endParaRPr lang="en-IN" dirty="0"/>
          </a:p>
          <a:p>
            <a:r>
              <a:rPr lang="en-IN" b="1" dirty="0"/>
              <a:t>Total Images:</a:t>
            </a:r>
            <a:r>
              <a:rPr lang="en-IN" dirty="0"/>
              <a:t> ~256K images (156K original data)</a:t>
            </a:r>
          </a:p>
          <a:p>
            <a:r>
              <a:rPr lang="en-IN" b="1" dirty="0"/>
              <a:t>Classes:</a:t>
            </a:r>
            <a:r>
              <a:rPr lang="en-IN" dirty="0"/>
              <a:t> 2 (Binary Classification) </a:t>
            </a:r>
          </a:p>
          <a:p>
            <a:pPr lvl="1"/>
            <a:r>
              <a:rPr lang="en-IN" b="1" dirty="0"/>
              <a:t>Biodegradable (B):</a:t>
            </a:r>
            <a:r>
              <a:rPr lang="en-IN" dirty="0"/>
              <a:t> Foods, plants, fruits - can be composted</a:t>
            </a:r>
          </a:p>
          <a:p>
            <a:pPr lvl="1"/>
            <a:r>
              <a:rPr lang="en-IN" b="1" dirty="0"/>
              <a:t>Non-biodegradable (N):</a:t>
            </a:r>
            <a:r>
              <a:rPr lang="en-IN" dirty="0"/>
              <a:t> Plastics, metals, inorganic materials - for recycling</a:t>
            </a:r>
          </a:p>
          <a:p>
            <a:r>
              <a:rPr lang="en-IN" b="1" dirty="0"/>
              <a:t>Data Distribution:</a:t>
            </a:r>
            <a:endParaRPr lang="en-IN" dirty="0"/>
          </a:p>
          <a:p>
            <a:r>
              <a:rPr lang="en-IN" dirty="0"/>
              <a:t>Training Data: TRAIN.1, TRAIN.2, TRAIN.3, TRAIN.4 (including augmented data)</a:t>
            </a:r>
          </a:p>
          <a:p>
            <a:r>
              <a:rPr lang="en-IN" dirty="0"/>
              <a:t>Test Data: Separate TEST directory</a:t>
            </a:r>
          </a:p>
          <a:p>
            <a:r>
              <a:rPr lang="en-IN" dirty="0"/>
              <a:t>Image preprocessing: Resized to 60×60 and 192×192 pixels</a:t>
            </a:r>
          </a:p>
          <a:p>
            <a:r>
              <a:rPr lang="en-IN" dirty="0"/>
              <a:t>Normalization: Pixel values scaled to [0,1]</a:t>
            </a:r>
          </a:p>
          <a:p>
            <a:endParaRPr lang="en-IN" dirty="0"/>
          </a:p>
        </p:txBody>
      </p:sp>
      <p:pic>
        <p:nvPicPr>
          <p:cNvPr id="4" name="Picture 3" descr="A blue and red text on a black background&#10;&#10;AI-generated content may be incorrect.">
            <a:extLst>
              <a:ext uri="{FF2B5EF4-FFF2-40B4-BE49-F238E27FC236}">
                <a16:creationId xmlns:a16="http://schemas.microsoft.com/office/drawing/2014/main" id="{7FDBE00F-0C50-CE9A-F81C-E031F36517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16422" y="657542"/>
            <a:ext cx="1991079" cy="664997"/>
          </a:xfrm>
          <a:prstGeom prst="rect">
            <a:avLst/>
          </a:prstGeom>
        </p:spPr>
      </p:pic>
    </p:spTree>
    <p:extLst>
      <p:ext uri="{BB962C8B-B14F-4D97-AF65-F5344CB8AC3E}">
        <p14:creationId xmlns:p14="http://schemas.microsoft.com/office/powerpoint/2010/main" val="5333650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CDC654-DAC6-16EF-AECE-28C30E2D7C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B57302-34BA-17AC-B793-EE550FEEC022}"/>
              </a:ext>
            </a:extLst>
          </p:cNvPr>
          <p:cNvSpPr>
            <a:spLocks noGrp="1"/>
          </p:cNvSpPr>
          <p:nvPr>
            <p:ph type="title"/>
          </p:nvPr>
        </p:nvSpPr>
        <p:spPr/>
        <p:txBody>
          <a:bodyPr/>
          <a:lstStyle/>
          <a:p>
            <a:r>
              <a:rPr lang="en-US" dirty="0"/>
              <a:t>Workflow</a:t>
            </a:r>
            <a:endParaRPr lang="en-IN" dirty="0"/>
          </a:p>
        </p:txBody>
      </p:sp>
      <p:pic>
        <p:nvPicPr>
          <p:cNvPr id="4" name="Picture 3" descr="A blue and red text on a black background&#10;&#10;AI-generated content may be incorrect.">
            <a:extLst>
              <a:ext uri="{FF2B5EF4-FFF2-40B4-BE49-F238E27FC236}">
                <a16:creationId xmlns:a16="http://schemas.microsoft.com/office/drawing/2014/main" id="{B058892F-40AE-C01D-7CD5-4ACDF86132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16422" y="657542"/>
            <a:ext cx="1991079" cy="664997"/>
          </a:xfrm>
          <a:prstGeom prst="rect">
            <a:avLst/>
          </a:prstGeom>
        </p:spPr>
      </p:pic>
      <p:pic>
        <p:nvPicPr>
          <p:cNvPr id="1026" name="Picture 2">
            <a:extLst>
              <a:ext uri="{FF2B5EF4-FFF2-40B4-BE49-F238E27FC236}">
                <a16:creationId xmlns:a16="http://schemas.microsoft.com/office/drawing/2014/main" id="{C8EC3362-5679-67FA-CDCA-60218C8DC45F}"/>
              </a:ext>
            </a:extLst>
          </p:cNvPr>
          <p:cNvPicPr>
            <a:picLocks noGrp="1" noChangeAspect="1" noChangeArrowheads="1"/>
          </p:cNvPicPr>
          <p:nvPr>
            <p:ph idx="1"/>
          </p:nvPr>
        </p:nvPicPr>
        <p:blipFill rotWithShape="1">
          <a:blip r:embed="rId3">
            <a:extLst>
              <a:ext uri="{28A0092B-C50C-407E-A947-70E740481C1C}">
                <a14:useLocalDpi xmlns:a14="http://schemas.microsoft.com/office/drawing/2010/main" val="0"/>
              </a:ext>
            </a:extLst>
          </a:blip>
          <a:srcRect t="13207" b="9303"/>
          <a:stretch>
            <a:fillRect/>
          </a:stretch>
        </p:blipFill>
        <p:spPr bwMode="auto">
          <a:xfrm>
            <a:off x="1757134" y="1216671"/>
            <a:ext cx="7729766" cy="49837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512997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9014F4-0A21-E586-43C4-F459C59A0B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A0FEFC-634F-EA2F-649D-66EBB15C4E99}"/>
              </a:ext>
            </a:extLst>
          </p:cNvPr>
          <p:cNvSpPr>
            <a:spLocks noGrp="1"/>
          </p:cNvSpPr>
          <p:nvPr>
            <p:ph type="title"/>
          </p:nvPr>
        </p:nvSpPr>
        <p:spPr/>
        <p:txBody>
          <a:bodyPr>
            <a:normAutofit/>
          </a:bodyPr>
          <a:lstStyle/>
          <a:p>
            <a:r>
              <a:rPr lang="en-US" sz="3200" dirty="0"/>
              <a:t>Methodology - Exploratory Data Analysis (EDA)</a:t>
            </a:r>
            <a:endParaRPr lang="en-IN" sz="3200" dirty="0"/>
          </a:p>
        </p:txBody>
      </p:sp>
      <p:pic>
        <p:nvPicPr>
          <p:cNvPr id="4" name="Picture 3" descr="A blue and red text on a black background&#10;&#10;AI-generated content may be incorrect.">
            <a:extLst>
              <a:ext uri="{FF2B5EF4-FFF2-40B4-BE49-F238E27FC236}">
                <a16:creationId xmlns:a16="http://schemas.microsoft.com/office/drawing/2014/main" id="{149CBC5B-53F3-34C7-89B8-0EF7EEF2B40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16422" y="657542"/>
            <a:ext cx="1991079" cy="664997"/>
          </a:xfrm>
          <a:prstGeom prst="rect">
            <a:avLst/>
          </a:prstGeom>
        </p:spPr>
      </p:pic>
      <p:sp>
        <p:nvSpPr>
          <p:cNvPr id="3" name="Content Placeholder 2">
            <a:extLst>
              <a:ext uri="{FF2B5EF4-FFF2-40B4-BE49-F238E27FC236}">
                <a16:creationId xmlns:a16="http://schemas.microsoft.com/office/drawing/2014/main" id="{66759077-16C0-3AFC-D615-D4A547FB486E}"/>
              </a:ext>
            </a:extLst>
          </p:cNvPr>
          <p:cNvSpPr>
            <a:spLocks noGrp="1"/>
          </p:cNvSpPr>
          <p:nvPr>
            <p:ph idx="1"/>
          </p:nvPr>
        </p:nvSpPr>
        <p:spPr/>
        <p:txBody>
          <a:bodyPr>
            <a:normAutofit fontScale="62500" lnSpcReduction="20000"/>
          </a:bodyPr>
          <a:lstStyle/>
          <a:p>
            <a:r>
              <a:rPr lang="en-IN" b="1" dirty="0"/>
              <a:t>Data Exploration:</a:t>
            </a:r>
            <a:endParaRPr lang="en-IN" dirty="0"/>
          </a:p>
          <a:p>
            <a:r>
              <a:rPr lang="en-IN" dirty="0" err="1"/>
              <a:t>Analyzed</a:t>
            </a:r>
            <a:r>
              <a:rPr lang="en-IN" dirty="0"/>
              <a:t> class distribution to check for imbalance</a:t>
            </a:r>
          </a:p>
          <a:p>
            <a:r>
              <a:rPr lang="en-IN" dirty="0"/>
              <a:t>Visualized sample images from both classes</a:t>
            </a:r>
          </a:p>
          <a:p>
            <a:r>
              <a:rPr lang="en-IN" dirty="0"/>
              <a:t>Verified image quality and diversity</a:t>
            </a:r>
          </a:p>
          <a:p>
            <a:r>
              <a:rPr lang="en-IN" b="1" dirty="0"/>
              <a:t>Key Findings:</a:t>
            </a:r>
            <a:endParaRPr lang="en-IN" dirty="0"/>
          </a:p>
          <a:p>
            <a:r>
              <a:rPr lang="en-IN" dirty="0"/>
              <a:t>Relatively balanced dataset between B and N classes</a:t>
            </a:r>
          </a:p>
          <a:p>
            <a:r>
              <a:rPr lang="en-IN" dirty="0"/>
              <a:t>Images contain varied backgrounds and lighting conditions</a:t>
            </a:r>
          </a:p>
          <a:p>
            <a:r>
              <a:rPr lang="en-IN" dirty="0"/>
              <a:t>Different object sizes and orientations present</a:t>
            </a:r>
          </a:p>
          <a:p>
            <a:r>
              <a:rPr lang="en-IN" b="1" dirty="0"/>
              <a:t>Preprocessing Steps:</a:t>
            </a:r>
            <a:endParaRPr lang="en-IN" dirty="0"/>
          </a:p>
          <a:p>
            <a:r>
              <a:rPr lang="en-IN" dirty="0"/>
              <a:t>Image resizing (60×60 for VGG16, 192×192 for </a:t>
            </a:r>
            <a:r>
              <a:rPr lang="en-IN" dirty="0" err="1"/>
              <a:t>FastAI</a:t>
            </a:r>
            <a:r>
              <a:rPr lang="en-IN" dirty="0"/>
              <a:t>)</a:t>
            </a:r>
          </a:p>
          <a:p>
            <a:r>
              <a:rPr lang="en-IN" dirty="0"/>
              <a:t>Normalization (pixel values ÷ 255.0)</a:t>
            </a:r>
          </a:p>
          <a:p>
            <a:r>
              <a:rPr lang="en-IN" dirty="0"/>
              <a:t>Train-validation split (80-20 ratio)</a:t>
            </a:r>
          </a:p>
          <a:p>
            <a:r>
              <a:rPr lang="en-IN" dirty="0"/>
              <a:t>Data augmentation applied in TRAIN.2, TRAIN.3, TRAIN.4</a:t>
            </a:r>
          </a:p>
          <a:p>
            <a:endParaRPr lang="en-IN" dirty="0"/>
          </a:p>
        </p:txBody>
      </p:sp>
    </p:spTree>
    <p:extLst>
      <p:ext uri="{BB962C8B-B14F-4D97-AF65-F5344CB8AC3E}">
        <p14:creationId xmlns:p14="http://schemas.microsoft.com/office/powerpoint/2010/main" val="37832286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2DD30D-5CCF-16F4-1B70-BF122D9B7F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2F2D8D-B3BB-AFAF-F791-E6395863E35B}"/>
              </a:ext>
            </a:extLst>
          </p:cNvPr>
          <p:cNvSpPr>
            <a:spLocks noGrp="1"/>
          </p:cNvSpPr>
          <p:nvPr>
            <p:ph type="title"/>
          </p:nvPr>
        </p:nvSpPr>
        <p:spPr/>
        <p:txBody>
          <a:bodyPr>
            <a:normAutofit/>
          </a:bodyPr>
          <a:lstStyle/>
          <a:p>
            <a:r>
              <a:rPr lang="en-IN" sz="3600" dirty="0"/>
              <a:t>Model 1 - VGG16 Architecture</a:t>
            </a:r>
          </a:p>
        </p:txBody>
      </p:sp>
      <p:pic>
        <p:nvPicPr>
          <p:cNvPr id="4" name="Picture 3" descr="A blue and red text on a black background&#10;&#10;AI-generated content may be incorrect.">
            <a:extLst>
              <a:ext uri="{FF2B5EF4-FFF2-40B4-BE49-F238E27FC236}">
                <a16:creationId xmlns:a16="http://schemas.microsoft.com/office/drawing/2014/main" id="{3B9F0B6F-100E-03EB-EC7C-74F118E1CE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16422" y="657542"/>
            <a:ext cx="1991079" cy="664997"/>
          </a:xfrm>
          <a:prstGeom prst="rect">
            <a:avLst/>
          </a:prstGeom>
        </p:spPr>
      </p:pic>
      <p:sp>
        <p:nvSpPr>
          <p:cNvPr id="3" name="Content Placeholder 2">
            <a:extLst>
              <a:ext uri="{FF2B5EF4-FFF2-40B4-BE49-F238E27FC236}">
                <a16:creationId xmlns:a16="http://schemas.microsoft.com/office/drawing/2014/main" id="{CEABDF44-9F5E-D021-D5C0-87853062BAE6}"/>
              </a:ext>
            </a:extLst>
          </p:cNvPr>
          <p:cNvSpPr>
            <a:spLocks noGrp="1"/>
          </p:cNvSpPr>
          <p:nvPr>
            <p:ph idx="1"/>
          </p:nvPr>
        </p:nvSpPr>
        <p:spPr/>
        <p:txBody>
          <a:bodyPr>
            <a:normAutofit fontScale="62500" lnSpcReduction="20000"/>
          </a:bodyPr>
          <a:lstStyle/>
          <a:p>
            <a:r>
              <a:rPr lang="en-IN" b="1" dirty="0"/>
              <a:t>Approach:</a:t>
            </a:r>
            <a:endParaRPr lang="en-IN" dirty="0"/>
          </a:p>
          <a:p>
            <a:r>
              <a:rPr lang="en-IN" dirty="0"/>
              <a:t>Transfer Learning using pre-trained VGG16 (ImageNet weights)</a:t>
            </a:r>
          </a:p>
          <a:p>
            <a:r>
              <a:rPr lang="en-IN" dirty="0"/>
              <a:t>Input shape: 60×60×3</a:t>
            </a:r>
          </a:p>
          <a:p>
            <a:r>
              <a:rPr lang="en-IN" dirty="0"/>
              <a:t>Frozen first 16 layers, fine-tuned remaining layers</a:t>
            </a:r>
          </a:p>
          <a:p>
            <a:r>
              <a:rPr lang="en-IN" b="1" dirty="0"/>
              <a:t>Architecture:</a:t>
            </a:r>
            <a:endParaRPr lang="en-IN" dirty="0"/>
          </a:p>
          <a:p>
            <a:r>
              <a:rPr lang="en-IN" dirty="0"/>
              <a:t>Base: VGG16 (</a:t>
            </a:r>
            <a:r>
              <a:rPr lang="en-IN" dirty="0" err="1"/>
              <a:t>include_top</a:t>
            </a:r>
            <a:r>
              <a:rPr lang="en-IN" dirty="0"/>
              <a:t>=False, pooling='max')</a:t>
            </a:r>
          </a:p>
          <a:p>
            <a:r>
              <a:rPr lang="en-IN" dirty="0"/>
              <a:t>Added: Flatten layer → Dense(5, </a:t>
            </a:r>
            <a:r>
              <a:rPr lang="en-IN" dirty="0" err="1"/>
              <a:t>softmax</a:t>
            </a:r>
            <a:r>
              <a:rPr lang="en-IN" dirty="0"/>
              <a:t>)</a:t>
            </a:r>
          </a:p>
          <a:p>
            <a:r>
              <a:rPr lang="en-IN" dirty="0"/>
              <a:t>Optimizer: RMSprop (</a:t>
            </a:r>
            <a:r>
              <a:rPr lang="en-IN" dirty="0" err="1"/>
              <a:t>lr</a:t>
            </a:r>
            <a:r>
              <a:rPr lang="en-IN" dirty="0"/>
              <a:t>=0.001)</a:t>
            </a:r>
          </a:p>
          <a:p>
            <a:r>
              <a:rPr lang="en-IN" dirty="0"/>
              <a:t>Loss: Sparse Categorical </a:t>
            </a:r>
            <a:r>
              <a:rPr lang="en-IN" dirty="0" err="1"/>
              <a:t>Crossentropy</a:t>
            </a:r>
            <a:endParaRPr lang="en-IN" dirty="0"/>
          </a:p>
          <a:p>
            <a:r>
              <a:rPr lang="en-IN" b="1" dirty="0"/>
              <a:t>Results:</a:t>
            </a:r>
            <a:endParaRPr lang="en-IN" dirty="0"/>
          </a:p>
          <a:p>
            <a:r>
              <a:rPr lang="en-IN" b="1" dirty="0"/>
              <a:t>Test Accuracy: 88.43%</a:t>
            </a:r>
            <a:endParaRPr lang="en-IN" dirty="0"/>
          </a:p>
          <a:p>
            <a:r>
              <a:rPr lang="en-IN" dirty="0"/>
              <a:t>Epochs: 20 with Early Stopping</a:t>
            </a:r>
          </a:p>
          <a:p>
            <a:r>
              <a:rPr lang="en-IN" dirty="0"/>
              <a:t>Batch Size: 32</a:t>
            </a:r>
          </a:p>
          <a:p>
            <a:endParaRPr lang="en-IN" dirty="0"/>
          </a:p>
        </p:txBody>
      </p:sp>
    </p:spTree>
    <p:extLst>
      <p:ext uri="{BB962C8B-B14F-4D97-AF65-F5344CB8AC3E}">
        <p14:creationId xmlns:p14="http://schemas.microsoft.com/office/powerpoint/2010/main" val="21895007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A6C1C6-BD49-7C71-FBE6-1D633FDEE0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F9019D-0E6E-9A42-5319-A755E62CF623}"/>
              </a:ext>
            </a:extLst>
          </p:cNvPr>
          <p:cNvSpPr>
            <a:spLocks noGrp="1"/>
          </p:cNvSpPr>
          <p:nvPr>
            <p:ph type="title"/>
          </p:nvPr>
        </p:nvSpPr>
        <p:spPr/>
        <p:txBody>
          <a:bodyPr>
            <a:normAutofit/>
          </a:bodyPr>
          <a:lstStyle/>
          <a:p>
            <a:r>
              <a:rPr lang="en-IN" sz="3600" dirty="0"/>
              <a:t>VGG16 Performance</a:t>
            </a:r>
          </a:p>
        </p:txBody>
      </p:sp>
      <p:pic>
        <p:nvPicPr>
          <p:cNvPr id="4" name="Picture 3" descr="A blue and red text on a black background&#10;&#10;AI-generated content may be incorrect.">
            <a:extLst>
              <a:ext uri="{FF2B5EF4-FFF2-40B4-BE49-F238E27FC236}">
                <a16:creationId xmlns:a16="http://schemas.microsoft.com/office/drawing/2014/main" id="{1CE858CC-B6BF-D74B-619F-18D1A9BC53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16422" y="657542"/>
            <a:ext cx="1991079" cy="664997"/>
          </a:xfrm>
          <a:prstGeom prst="rect">
            <a:avLst/>
          </a:prstGeom>
        </p:spPr>
      </p:pic>
      <p:graphicFrame>
        <p:nvGraphicFramePr>
          <p:cNvPr id="9" name="Content Placeholder 8">
            <a:extLst>
              <a:ext uri="{FF2B5EF4-FFF2-40B4-BE49-F238E27FC236}">
                <a16:creationId xmlns:a16="http://schemas.microsoft.com/office/drawing/2014/main" id="{180FC673-22B1-0E93-EE67-A7B49C9E499E}"/>
              </a:ext>
            </a:extLst>
          </p:cNvPr>
          <p:cNvGraphicFramePr>
            <a:graphicFrameLocks noGrp="1"/>
          </p:cNvGraphicFramePr>
          <p:nvPr>
            <p:ph idx="1"/>
            <p:extLst>
              <p:ext uri="{D42A27DB-BD31-4B8C-83A1-F6EECF244321}">
                <p14:modId xmlns:p14="http://schemas.microsoft.com/office/powerpoint/2010/main" val="2431134102"/>
              </p:ext>
            </p:extLst>
          </p:nvPr>
        </p:nvGraphicFramePr>
        <p:xfrm>
          <a:off x="838200" y="1825625"/>
          <a:ext cx="10515600" cy="1112520"/>
        </p:xfrm>
        <a:graphic>
          <a:graphicData uri="http://schemas.openxmlformats.org/drawingml/2006/table">
            <a:tbl>
              <a:tblPr firstRow="1" bandRow="1">
                <a:tableStyleId>{5C22544A-7EE6-4342-B048-85BDC9FD1C3A}</a:tableStyleId>
              </a:tblPr>
              <a:tblGrid>
                <a:gridCol w="2628900">
                  <a:extLst>
                    <a:ext uri="{9D8B030D-6E8A-4147-A177-3AD203B41FA5}">
                      <a16:colId xmlns:a16="http://schemas.microsoft.com/office/drawing/2014/main" val="201321241"/>
                    </a:ext>
                  </a:extLst>
                </a:gridCol>
                <a:gridCol w="2628900">
                  <a:extLst>
                    <a:ext uri="{9D8B030D-6E8A-4147-A177-3AD203B41FA5}">
                      <a16:colId xmlns:a16="http://schemas.microsoft.com/office/drawing/2014/main" val="1137681260"/>
                    </a:ext>
                  </a:extLst>
                </a:gridCol>
                <a:gridCol w="2628900">
                  <a:extLst>
                    <a:ext uri="{9D8B030D-6E8A-4147-A177-3AD203B41FA5}">
                      <a16:colId xmlns:a16="http://schemas.microsoft.com/office/drawing/2014/main" val="2838798898"/>
                    </a:ext>
                  </a:extLst>
                </a:gridCol>
                <a:gridCol w="2628900">
                  <a:extLst>
                    <a:ext uri="{9D8B030D-6E8A-4147-A177-3AD203B41FA5}">
                      <a16:colId xmlns:a16="http://schemas.microsoft.com/office/drawing/2014/main" val="2291333565"/>
                    </a:ext>
                  </a:extLst>
                </a:gridCol>
              </a:tblGrid>
              <a:tr h="370840">
                <a:tc>
                  <a:txBody>
                    <a:bodyPr/>
                    <a:lstStyle/>
                    <a:p>
                      <a:pPr>
                        <a:buNone/>
                      </a:pPr>
                      <a:r>
                        <a:rPr lang="en-IN" dirty="0"/>
                        <a:t>Class</a:t>
                      </a:r>
                    </a:p>
                  </a:txBody>
                  <a:tcPr anchor="ctr"/>
                </a:tc>
                <a:tc>
                  <a:txBody>
                    <a:bodyPr/>
                    <a:lstStyle/>
                    <a:p>
                      <a:pPr>
                        <a:buNone/>
                      </a:pPr>
                      <a:r>
                        <a:rPr lang="en-IN"/>
                        <a:t>Precision</a:t>
                      </a:r>
                    </a:p>
                  </a:txBody>
                  <a:tcPr anchor="ctr"/>
                </a:tc>
                <a:tc>
                  <a:txBody>
                    <a:bodyPr/>
                    <a:lstStyle/>
                    <a:p>
                      <a:pPr>
                        <a:buNone/>
                      </a:pPr>
                      <a:r>
                        <a:rPr lang="en-IN"/>
                        <a:t>Recall</a:t>
                      </a:r>
                    </a:p>
                  </a:txBody>
                  <a:tcPr anchor="ctr"/>
                </a:tc>
                <a:tc>
                  <a:txBody>
                    <a:bodyPr/>
                    <a:lstStyle/>
                    <a:p>
                      <a:pPr>
                        <a:buNone/>
                      </a:pPr>
                      <a:r>
                        <a:rPr lang="en-IN"/>
                        <a:t>F1-Score</a:t>
                      </a:r>
                    </a:p>
                  </a:txBody>
                  <a:tcPr anchor="ctr"/>
                </a:tc>
                <a:extLst>
                  <a:ext uri="{0D108BD9-81ED-4DB2-BD59-A6C34878D82A}">
                    <a16:rowId xmlns:a16="http://schemas.microsoft.com/office/drawing/2014/main" val="4197271276"/>
                  </a:ext>
                </a:extLst>
              </a:tr>
              <a:tr h="370840">
                <a:tc>
                  <a:txBody>
                    <a:bodyPr/>
                    <a:lstStyle/>
                    <a:p>
                      <a:pPr>
                        <a:buNone/>
                      </a:pPr>
                      <a:r>
                        <a:rPr lang="en-IN"/>
                        <a:t>Biodegradable (0)</a:t>
                      </a:r>
                    </a:p>
                  </a:txBody>
                  <a:tcPr anchor="ctr"/>
                </a:tc>
                <a:tc>
                  <a:txBody>
                    <a:bodyPr/>
                    <a:lstStyle/>
                    <a:p>
                      <a:pPr>
                        <a:buNone/>
                      </a:pPr>
                      <a:r>
                        <a:rPr lang="en-IN"/>
                        <a:t>0.929</a:t>
                      </a:r>
                    </a:p>
                  </a:txBody>
                  <a:tcPr anchor="ctr"/>
                </a:tc>
                <a:tc>
                  <a:txBody>
                    <a:bodyPr/>
                    <a:lstStyle/>
                    <a:p>
                      <a:pPr>
                        <a:buNone/>
                      </a:pPr>
                      <a:r>
                        <a:rPr lang="en-IN"/>
                        <a:t>0.832</a:t>
                      </a:r>
                    </a:p>
                  </a:txBody>
                  <a:tcPr anchor="ctr"/>
                </a:tc>
                <a:tc>
                  <a:txBody>
                    <a:bodyPr/>
                    <a:lstStyle/>
                    <a:p>
                      <a:pPr>
                        <a:buNone/>
                      </a:pPr>
                      <a:r>
                        <a:rPr lang="en-IN"/>
                        <a:t>0.878</a:t>
                      </a:r>
                    </a:p>
                  </a:txBody>
                  <a:tcPr anchor="ctr"/>
                </a:tc>
                <a:extLst>
                  <a:ext uri="{0D108BD9-81ED-4DB2-BD59-A6C34878D82A}">
                    <a16:rowId xmlns:a16="http://schemas.microsoft.com/office/drawing/2014/main" val="1349196856"/>
                  </a:ext>
                </a:extLst>
              </a:tr>
              <a:tr h="370840">
                <a:tc>
                  <a:txBody>
                    <a:bodyPr/>
                    <a:lstStyle/>
                    <a:p>
                      <a:pPr>
                        <a:buNone/>
                      </a:pPr>
                      <a:r>
                        <a:rPr lang="en-IN" dirty="0"/>
                        <a:t>Non-biodegradable (1)</a:t>
                      </a:r>
                    </a:p>
                  </a:txBody>
                  <a:tcPr anchor="ctr"/>
                </a:tc>
                <a:tc>
                  <a:txBody>
                    <a:bodyPr/>
                    <a:lstStyle/>
                    <a:p>
                      <a:pPr>
                        <a:buNone/>
                      </a:pPr>
                      <a:r>
                        <a:rPr lang="en-IN"/>
                        <a:t>0.848</a:t>
                      </a:r>
                    </a:p>
                  </a:txBody>
                  <a:tcPr anchor="ctr"/>
                </a:tc>
                <a:tc>
                  <a:txBody>
                    <a:bodyPr/>
                    <a:lstStyle/>
                    <a:p>
                      <a:pPr>
                        <a:buNone/>
                      </a:pPr>
                      <a:r>
                        <a:rPr lang="en-IN"/>
                        <a:t>0.936</a:t>
                      </a:r>
                    </a:p>
                  </a:txBody>
                  <a:tcPr anchor="ctr"/>
                </a:tc>
                <a:tc>
                  <a:txBody>
                    <a:bodyPr/>
                    <a:lstStyle/>
                    <a:p>
                      <a:pPr>
                        <a:buNone/>
                      </a:pPr>
                      <a:r>
                        <a:rPr lang="en-IN" dirty="0"/>
                        <a:t>0.890</a:t>
                      </a:r>
                    </a:p>
                  </a:txBody>
                  <a:tcPr anchor="ctr"/>
                </a:tc>
                <a:extLst>
                  <a:ext uri="{0D108BD9-81ED-4DB2-BD59-A6C34878D82A}">
                    <a16:rowId xmlns:a16="http://schemas.microsoft.com/office/drawing/2014/main" val="3395697607"/>
                  </a:ext>
                </a:extLst>
              </a:tr>
            </a:tbl>
          </a:graphicData>
        </a:graphic>
      </p:graphicFrame>
      <p:sp>
        <p:nvSpPr>
          <p:cNvPr id="10" name="TextBox 9">
            <a:extLst>
              <a:ext uri="{FF2B5EF4-FFF2-40B4-BE49-F238E27FC236}">
                <a16:creationId xmlns:a16="http://schemas.microsoft.com/office/drawing/2014/main" id="{765A4F9A-10B2-194A-F02B-32B281D940C4}"/>
              </a:ext>
            </a:extLst>
          </p:cNvPr>
          <p:cNvSpPr txBox="1"/>
          <p:nvPr/>
        </p:nvSpPr>
        <p:spPr>
          <a:xfrm>
            <a:off x="771525" y="3429000"/>
            <a:ext cx="10582275" cy="1908215"/>
          </a:xfrm>
          <a:prstGeom prst="rect">
            <a:avLst/>
          </a:prstGeom>
          <a:noFill/>
        </p:spPr>
        <p:txBody>
          <a:bodyPr wrap="square" rtlCol="0">
            <a:spAutoFit/>
          </a:bodyPr>
          <a:lstStyle/>
          <a:p>
            <a:r>
              <a:rPr lang="en-US" sz="2000" b="1" dirty="0"/>
              <a:t>Observations:</a:t>
            </a:r>
            <a:endParaRPr lang="en-US" sz="2000" dirty="0"/>
          </a:p>
          <a:p>
            <a:r>
              <a:rPr lang="en-US" sz="2000" dirty="0"/>
              <a:t>Strong performance on Non-biodegradable class (93.6% recall)</a:t>
            </a:r>
          </a:p>
          <a:p>
            <a:r>
              <a:rPr lang="en-US" sz="2000" dirty="0"/>
              <a:t>Biodegradable class shows higher precision (92.9%)</a:t>
            </a:r>
          </a:p>
          <a:p>
            <a:r>
              <a:rPr lang="en-US" sz="2000" dirty="0"/>
              <a:t>Confusion matrix shows balanced error distribution</a:t>
            </a:r>
          </a:p>
          <a:p>
            <a:r>
              <a:rPr lang="en-US" sz="2000" dirty="0"/>
              <a:t>Overall good generalization with 88.43% accuracy</a:t>
            </a:r>
          </a:p>
          <a:p>
            <a:endParaRPr lang="en-IN" dirty="0"/>
          </a:p>
        </p:txBody>
      </p:sp>
    </p:spTree>
    <p:extLst>
      <p:ext uri="{BB962C8B-B14F-4D97-AF65-F5344CB8AC3E}">
        <p14:creationId xmlns:p14="http://schemas.microsoft.com/office/powerpoint/2010/main" val="14606745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AAB6BB-40A0-BD02-66CA-26B29BC47E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4ED136-3491-F491-498D-8208320FF809}"/>
              </a:ext>
            </a:extLst>
          </p:cNvPr>
          <p:cNvSpPr>
            <a:spLocks noGrp="1"/>
          </p:cNvSpPr>
          <p:nvPr>
            <p:ph type="title"/>
          </p:nvPr>
        </p:nvSpPr>
        <p:spPr/>
        <p:txBody>
          <a:bodyPr>
            <a:normAutofit/>
          </a:bodyPr>
          <a:lstStyle/>
          <a:p>
            <a:r>
              <a:rPr lang="en-US" sz="3600" dirty="0"/>
              <a:t>Model 2 - </a:t>
            </a:r>
            <a:r>
              <a:rPr lang="en-US" sz="3600" dirty="0" err="1"/>
              <a:t>FastAI</a:t>
            </a:r>
            <a:r>
              <a:rPr lang="en-US" sz="3600" dirty="0"/>
              <a:t> with ResNet18</a:t>
            </a:r>
            <a:endParaRPr lang="en-IN" sz="3600" dirty="0"/>
          </a:p>
        </p:txBody>
      </p:sp>
      <p:pic>
        <p:nvPicPr>
          <p:cNvPr id="4" name="Picture 3" descr="A blue and red text on a black background&#10;&#10;AI-generated content may be incorrect.">
            <a:extLst>
              <a:ext uri="{FF2B5EF4-FFF2-40B4-BE49-F238E27FC236}">
                <a16:creationId xmlns:a16="http://schemas.microsoft.com/office/drawing/2014/main" id="{641FA158-0791-0211-7214-080395E4FB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16422" y="657542"/>
            <a:ext cx="1991079" cy="664997"/>
          </a:xfrm>
          <a:prstGeom prst="rect">
            <a:avLst/>
          </a:prstGeom>
        </p:spPr>
      </p:pic>
      <p:sp>
        <p:nvSpPr>
          <p:cNvPr id="3" name="Content Placeholder 2">
            <a:extLst>
              <a:ext uri="{FF2B5EF4-FFF2-40B4-BE49-F238E27FC236}">
                <a16:creationId xmlns:a16="http://schemas.microsoft.com/office/drawing/2014/main" id="{1991C613-20B7-1E5A-43B0-D9F54744EC8F}"/>
              </a:ext>
            </a:extLst>
          </p:cNvPr>
          <p:cNvSpPr>
            <a:spLocks noGrp="1"/>
          </p:cNvSpPr>
          <p:nvPr>
            <p:ph idx="1"/>
          </p:nvPr>
        </p:nvSpPr>
        <p:spPr/>
        <p:txBody>
          <a:bodyPr>
            <a:normAutofit fontScale="85000" lnSpcReduction="20000"/>
          </a:bodyPr>
          <a:lstStyle/>
          <a:p>
            <a:r>
              <a:rPr lang="en-IN" b="1" dirty="0"/>
              <a:t>Advanced Approach:</a:t>
            </a:r>
            <a:endParaRPr lang="en-IN" dirty="0"/>
          </a:p>
          <a:p>
            <a:r>
              <a:rPr lang="en-IN" dirty="0" err="1"/>
              <a:t>FastAI</a:t>
            </a:r>
            <a:r>
              <a:rPr lang="en-IN" dirty="0"/>
              <a:t> framework with </a:t>
            </a:r>
            <a:r>
              <a:rPr lang="en-IN" dirty="0" err="1"/>
              <a:t>PyTorch</a:t>
            </a:r>
            <a:r>
              <a:rPr lang="en-IN" dirty="0"/>
              <a:t> backend</a:t>
            </a:r>
          </a:p>
          <a:p>
            <a:r>
              <a:rPr lang="en-IN" dirty="0"/>
              <a:t>Architecture: ResNet18 with transfer learning</a:t>
            </a:r>
          </a:p>
          <a:p>
            <a:r>
              <a:rPr lang="en-IN" dirty="0"/>
              <a:t>Progressive training on 4 datasets (TRAIN.1 through TRAIN.4)</a:t>
            </a:r>
          </a:p>
          <a:p>
            <a:r>
              <a:rPr lang="en-IN" b="1" dirty="0"/>
              <a:t>Training Strategy:</a:t>
            </a:r>
            <a:endParaRPr lang="en-IN" dirty="0"/>
          </a:p>
          <a:p>
            <a:r>
              <a:rPr lang="en-IN" b="1" dirty="0"/>
              <a:t>Iterative Fine-tuning:</a:t>
            </a:r>
            <a:r>
              <a:rPr lang="en-IN" dirty="0"/>
              <a:t> Trained sequentially on each dataset</a:t>
            </a:r>
          </a:p>
          <a:p>
            <a:r>
              <a:rPr lang="en-IN" dirty="0"/>
              <a:t>Image size: 192×192 (squish method)</a:t>
            </a:r>
          </a:p>
          <a:p>
            <a:r>
              <a:rPr lang="en-IN" dirty="0"/>
              <a:t>Batch size: 64</a:t>
            </a:r>
          </a:p>
          <a:p>
            <a:r>
              <a:rPr lang="en-IN" dirty="0"/>
              <a:t>Validation split: 80-20 (seed=16)</a:t>
            </a:r>
          </a:p>
          <a:p>
            <a:r>
              <a:rPr lang="en-IN" dirty="0"/>
              <a:t>Fine-tuned for 1 epoch per dataset iteration</a:t>
            </a:r>
          </a:p>
          <a:p>
            <a:r>
              <a:rPr lang="en-IN" dirty="0"/>
              <a:t>Model exported after each training phase</a:t>
            </a:r>
          </a:p>
          <a:p>
            <a:endParaRPr lang="en-IN" dirty="0"/>
          </a:p>
        </p:txBody>
      </p:sp>
    </p:spTree>
    <p:extLst>
      <p:ext uri="{BB962C8B-B14F-4D97-AF65-F5344CB8AC3E}">
        <p14:creationId xmlns:p14="http://schemas.microsoft.com/office/powerpoint/2010/main" val="21747857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8D71C6-A5DF-C1C4-7FAE-24B7E9F475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4B77B0-95A4-3EF0-F9FC-553E58073596}"/>
              </a:ext>
            </a:extLst>
          </p:cNvPr>
          <p:cNvSpPr>
            <a:spLocks noGrp="1"/>
          </p:cNvSpPr>
          <p:nvPr>
            <p:ph type="title"/>
          </p:nvPr>
        </p:nvSpPr>
        <p:spPr/>
        <p:txBody>
          <a:bodyPr>
            <a:normAutofit/>
          </a:bodyPr>
          <a:lstStyle/>
          <a:p>
            <a:r>
              <a:rPr lang="en-IN" sz="3600" dirty="0" err="1"/>
              <a:t>FastAI</a:t>
            </a:r>
            <a:r>
              <a:rPr lang="en-IN" sz="3600" dirty="0"/>
              <a:t> Performance</a:t>
            </a:r>
          </a:p>
        </p:txBody>
      </p:sp>
      <p:pic>
        <p:nvPicPr>
          <p:cNvPr id="4" name="Picture 3" descr="A blue and red text on a black background&#10;&#10;AI-generated content may be incorrect.">
            <a:extLst>
              <a:ext uri="{FF2B5EF4-FFF2-40B4-BE49-F238E27FC236}">
                <a16:creationId xmlns:a16="http://schemas.microsoft.com/office/drawing/2014/main" id="{8C98E2F8-E81E-3B69-F786-6EF3FBF777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16422" y="657542"/>
            <a:ext cx="1991079" cy="664997"/>
          </a:xfrm>
          <a:prstGeom prst="rect">
            <a:avLst/>
          </a:prstGeom>
        </p:spPr>
      </p:pic>
      <p:graphicFrame>
        <p:nvGraphicFramePr>
          <p:cNvPr id="5" name="Content Placeholder 4">
            <a:extLst>
              <a:ext uri="{FF2B5EF4-FFF2-40B4-BE49-F238E27FC236}">
                <a16:creationId xmlns:a16="http://schemas.microsoft.com/office/drawing/2014/main" id="{DD579C05-2575-1425-FD17-0449B8D3DAFC}"/>
              </a:ext>
            </a:extLst>
          </p:cNvPr>
          <p:cNvGraphicFramePr>
            <a:graphicFrameLocks noGrp="1"/>
          </p:cNvGraphicFramePr>
          <p:nvPr>
            <p:ph idx="1"/>
            <p:extLst>
              <p:ext uri="{D42A27DB-BD31-4B8C-83A1-F6EECF244321}">
                <p14:modId xmlns:p14="http://schemas.microsoft.com/office/powerpoint/2010/main" val="1640206951"/>
              </p:ext>
            </p:extLst>
          </p:nvPr>
        </p:nvGraphicFramePr>
        <p:xfrm>
          <a:off x="838200" y="1825625"/>
          <a:ext cx="10515597" cy="3337560"/>
        </p:xfrm>
        <a:graphic>
          <a:graphicData uri="http://schemas.openxmlformats.org/drawingml/2006/table">
            <a:tbl>
              <a:tblPr firstRow="1" bandRow="1">
                <a:tableStyleId>{5C22544A-7EE6-4342-B048-85BDC9FD1C3A}</a:tableStyleId>
              </a:tblPr>
              <a:tblGrid>
                <a:gridCol w="3505199">
                  <a:extLst>
                    <a:ext uri="{9D8B030D-6E8A-4147-A177-3AD203B41FA5}">
                      <a16:colId xmlns:a16="http://schemas.microsoft.com/office/drawing/2014/main" val="2066817939"/>
                    </a:ext>
                  </a:extLst>
                </a:gridCol>
                <a:gridCol w="3505199">
                  <a:extLst>
                    <a:ext uri="{9D8B030D-6E8A-4147-A177-3AD203B41FA5}">
                      <a16:colId xmlns:a16="http://schemas.microsoft.com/office/drawing/2014/main" val="3548260015"/>
                    </a:ext>
                  </a:extLst>
                </a:gridCol>
                <a:gridCol w="3505199">
                  <a:extLst>
                    <a:ext uri="{9D8B030D-6E8A-4147-A177-3AD203B41FA5}">
                      <a16:colId xmlns:a16="http://schemas.microsoft.com/office/drawing/2014/main" val="11068458"/>
                    </a:ext>
                  </a:extLst>
                </a:gridCol>
              </a:tblGrid>
              <a:tr h="370840">
                <a:tc>
                  <a:txBody>
                    <a:bodyPr/>
                    <a:lstStyle/>
                    <a:p>
                      <a:pPr>
                        <a:buNone/>
                      </a:pPr>
                      <a:r>
                        <a:rPr lang="en-IN" dirty="0"/>
                        <a:t>Training Phase</a:t>
                      </a:r>
                    </a:p>
                  </a:txBody>
                  <a:tcPr anchor="ctr"/>
                </a:tc>
                <a:tc>
                  <a:txBody>
                    <a:bodyPr/>
                    <a:lstStyle/>
                    <a:p>
                      <a:pPr>
                        <a:buNone/>
                      </a:pPr>
                      <a:r>
                        <a:rPr lang="en-IN"/>
                        <a:t>Error Rate</a:t>
                      </a:r>
                    </a:p>
                  </a:txBody>
                  <a:tcPr anchor="ctr"/>
                </a:tc>
                <a:tc>
                  <a:txBody>
                    <a:bodyPr/>
                    <a:lstStyle/>
                    <a:p>
                      <a:pPr>
                        <a:buNone/>
                      </a:pPr>
                      <a:r>
                        <a:rPr lang="en-IN"/>
                        <a:t>Accuracy</a:t>
                      </a:r>
                    </a:p>
                  </a:txBody>
                  <a:tcPr anchor="ctr"/>
                </a:tc>
                <a:extLst>
                  <a:ext uri="{0D108BD9-81ED-4DB2-BD59-A6C34878D82A}">
                    <a16:rowId xmlns:a16="http://schemas.microsoft.com/office/drawing/2014/main" val="2450822219"/>
                  </a:ext>
                </a:extLst>
              </a:tr>
              <a:tr h="370840">
                <a:tc>
                  <a:txBody>
                    <a:bodyPr/>
                    <a:lstStyle/>
                    <a:p>
                      <a:pPr>
                        <a:buNone/>
                      </a:pPr>
                      <a:r>
                        <a:rPr lang="en-IN"/>
                        <a:t>TRAIN.1 (Initial)</a:t>
                      </a:r>
                    </a:p>
                  </a:txBody>
                  <a:tcPr anchor="ctr"/>
                </a:tc>
                <a:tc>
                  <a:txBody>
                    <a:bodyPr/>
                    <a:lstStyle/>
                    <a:p>
                      <a:pPr>
                        <a:buNone/>
                      </a:pPr>
                      <a:r>
                        <a:rPr lang="en-IN"/>
                        <a:t>2.48%</a:t>
                      </a:r>
                    </a:p>
                  </a:txBody>
                  <a:tcPr anchor="ctr"/>
                </a:tc>
                <a:tc>
                  <a:txBody>
                    <a:bodyPr/>
                    <a:lstStyle/>
                    <a:p>
                      <a:pPr>
                        <a:buNone/>
                      </a:pPr>
                      <a:r>
                        <a:rPr lang="en-IN"/>
                        <a:t>97.52%</a:t>
                      </a:r>
                    </a:p>
                  </a:txBody>
                  <a:tcPr anchor="ctr"/>
                </a:tc>
                <a:extLst>
                  <a:ext uri="{0D108BD9-81ED-4DB2-BD59-A6C34878D82A}">
                    <a16:rowId xmlns:a16="http://schemas.microsoft.com/office/drawing/2014/main" val="1580789586"/>
                  </a:ext>
                </a:extLst>
              </a:tr>
              <a:tr h="370840">
                <a:tc>
                  <a:txBody>
                    <a:bodyPr/>
                    <a:lstStyle/>
                    <a:p>
                      <a:pPr>
                        <a:buNone/>
                      </a:pPr>
                      <a:r>
                        <a:rPr lang="en-IN"/>
                        <a:t>TRAIN.1 (Fine-tuned)</a:t>
                      </a:r>
                    </a:p>
                  </a:txBody>
                  <a:tcPr anchor="ctr"/>
                </a:tc>
                <a:tc>
                  <a:txBody>
                    <a:bodyPr/>
                    <a:lstStyle/>
                    <a:p>
                      <a:pPr>
                        <a:buNone/>
                      </a:pPr>
                      <a:r>
                        <a:rPr lang="en-IN"/>
                        <a:t>1.19%</a:t>
                      </a:r>
                    </a:p>
                  </a:txBody>
                  <a:tcPr anchor="ctr"/>
                </a:tc>
                <a:tc>
                  <a:txBody>
                    <a:bodyPr/>
                    <a:lstStyle/>
                    <a:p>
                      <a:pPr>
                        <a:buNone/>
                      </a:pPr>
                      <a:r>
                        <a:rPr lang="en-IN"/>
                        <a:t>98.81%</a:t>
                      </a:r>
                    </a:p>
                  </a:txBody>
                  <a:tcPr anchor="ctr"/>
                </a:tc>
                <a:extLst>
                  <a:ext uri="{0D108BD9-81ED-4DB2-BD59-A6C34878D82A}">
                    <a16:rowId xmlns:a16="http://schemas.microsoft.com/office/drawing/2014/main" val="3522488455"/>
                  </a:ext>
                </a:extLst>
              </a:tr>
              <a:tr h="370840">
                <a:tc>
                  <a:txBody>
                    <a:bodyPr/>
                    <a:lstStyle/>
                    <a:p>
                      <a:pPr>
                        <a:buNone/>
                      </a:pPr>
                      <a:r>
                        <a:rPr lang="en-IN"/>
                        <a:t>TRAIN.2 (Initial)</a:t>
                      </a:r>
                    </a:p>
                  </a:txBody>
                  <a:tcPr anchor="ctr"/>
                </a:tc>
                <a:tc>
                  <a:txBody>
                    <a:bodyPr/>
                    <a:lstStyle/>
                    <a:p>
                      <a:pPr>
                        <a:buNone/>
                      </a:pPr>
                      <a:r>
                        <a:rPr lang="en-IN"/>
                        <a:t>2.23%</a:t>
                      </a:r>
                    </a:p>
                  </a:txBody>
                  <a:tcPr anchor="ctr"/>
                </a:tc>
                <a:tc>
                  <a:txBody>
                    <a:bodyPr/>
                    <a:lstStyle/>
                    <a:p>
                      <a:pPr>
                        <a:buNone/>
                      </a:pPr>
                      <a:r>
                        <a:rPr lang="en-IN"/>
                        <a:t>97.77%</a:t>
                      </a:r>
                    </a:p>
                  </a:txBody>
                  <a:tcPr anchor="ctr"/>
                </a:tc>
                <a:extLst>
                  <a:ext uri="{0D108BD9-81ED-4DB2-BD59-A6C34878D82A}">
                    <a16:rowId xmlns:a16="http://schemas.microsoft.com/office/drawing/2014/main" val="2474533288"/>
                  </a:ext>
                </a:extLst>
              </a:tr>
              <a:tr h="370840">
                <a:tc>
                  <a:txBody>
                    <a:bodyPr/>
                    <a:lstStyle/>
                    <a:p>
                      <a:pPr>
                        <a:buNone/>
                      </a:pPr>
                      <a:r>
                        <a:rPr lang="en-IN"/>
                        <a:t>TRAIN.2 (Fine-tuned)</a:t>
                      </a:r>
                    </a:p>
                  </a:txBody>
                  <a:tcPr anchor="ctr"/>
                </a:tc>
                <a:tc>
                  <a:txBody>
                    <a:bodyPr/>
                    <a:lstStyle/>
                    <a:p>
                      <a:pPr>
                        <a:buNone/>
                      </a:pPr>
                      <a:r>
                        <a:rPr lang="en-IN"/>
                        <a:t>1.48%</a:t>
                      </a:r>
                    </a:p>
                  </a:txBody>
                  <a:tcPr anchor="ctr"/>
                </a:tc>
                <a:tc>
                  <a:txBody>
                    <a:bodyPr/>
                    <a:lstStyle/>
                    <a:p>
                      <a:pPr>
                        <a:buNone/>
                      </a:pPr>
                      <a:r>
                        <a:rPr lang="en-IN"/>
                        <a:t>98.52%</a:t>
                      </a:r>
                    </a:p>
                  </a:txBody>
                  <a:tcPr anchor="ctr"/>
                </a:tc>
                <a:extLst>
                  <a:ext uri="{0D108BD9-81ED-4DB2-BD59-A6C34878D82A}">
                    <a16:rowId xmlns:a16="http://schemas.microsoft.com/office/drawing/2014/main" val="2095213637"/>
                  </a:ext>
                </a:extLst>
              </a:tr>
              <a:tr h="370840">
                <a:tc>
                  <a:txBody>
                    <a:bodyPr/>
                    <a:lstStyle/>
                    <a:p>
                      <a:pPr>
                        <a:buNone/>
                      </a:pPr>
                      <a:r>
                        <a:rPr lang="en-IN"/>
                        <a:t>TRAIN.3 (Initial)</a:t>
                      </a:r>
                    </a:p>
                  </a:txBody>
                  <a:tcPr anchor="ctr"/>
                </a:tc>
                <a:tc>
                  <a:txBody>
                    <a:bodyPr/>
                    <a:lstStyle/>
                    <a:p>
                      <a:pPr>
                        <a:buNone/>
                      </a:pPr>
                      <a:r>
                        <a:rPr lang="en-IN"/>
                        <a:t>1.49%</a:t>
                      </a:r>
                    </a:p>
                  </a:txBody>
                  <a:tcPr anchor="ctr"/>
                </a:tc>
                <a:tc>
                  <a:txBody>
                    <a:bodyPr/>
                    <a:lstStyle/>
                    <a:p>
                      <a:pPr>
                        <a:buNone/>
                      </a:pPr>
                      <a:r>
                        <a:rPr lang="en-IN"/>
                        <a:t>98.51%</a:t>
                      </a:r>
                    </a:p>
                  </a:txBody>
                  <a:tcPr anchor="ctr"/>
                </a:tc>
                <a:extLst>
                  <a:ext uri="{0D108BD9-81ED-4DB2-BD59-A6C34878D82A}">
                    <a16:rowId xmlns:a16="http://schemas.microsoft.com/office/drawing/2014/main" val="2935574087"/>
                  </a:ext>
                </a:extLst>
              </a:tr>
              <a:tr h="370840">
                <a:tc>
                  <a:txBody>
                    <a:bodyPr/>
                    <a:lstStyle/>
                    <a:p>
                      <a:pPr>
                        <a:buNone/>
                      </a:pPr>
                      <a:r>
                        <a:rPr lang="en-IN"/>
                        <a:t>TRAIN.3 (Fine-tuned)</a:t>
                      </a:r>
                    </a:p>
                  </a:txBody>
                  <a:tcPr anchor="ctr"/>
                </a:tc>
                <a:tc>
                  <a:txBody>
                    <a:bodyPr/>
                    <a:lstStyle/>
                    <a:p>
                      <a:pPr>
                        <a:buNone/>
                      </a:pPr>
                      <a:r>
                        <a:rPr lang="en-IN"/>
                        <a:t>1.24%</a:t>
                      </a:r>
                    </a:p>
                  </a:txBody>
                  <a:tcPr anchor="ctr"/>
                </a:tc>
                <a:tc>
                  <a:txBody>
                    <a:bodyPr/>
                    <a:lstStyle/>
                    <a:p>
                      <a:pPr>
                        <a:buNone/>
                      </a:pPr>
                      <a:r>
                        <a:rPr lang="en-IN"/>
                        <a:t>98.76%</a:t>
                      </a:r>
                    </a:p>
                  </a:txBody>
                  <a:tcPr anchor="ctr"/>
                </a:tc>
                <a:extLst>
                  <a:ext uri="{0D108BD9-81ED-4DB2-BD59-A6C34878D82A}">
                    <a16:rowId xmlns:a16="http://schemas.microsoft.com/office/drawing/2014/main" val="666463552"/>
                  </a:ext>
                </a:extLst>
              </a:tr>
              <a:tr h="370840">
                <a:tc>
                  <a:txBody>
                    <a:bodyPr/>
                    <a:lstStyle/>
                    <a:p>
                      <a:pPr>
                        <a:buNone/>
                      </a:pPr>
                      <a:r>
                        <a:rPr lang="en-IN"/>
                        <a:t>TRAIN.4 (Initial)</a:t>
                      </a:r>
                    </a:p>
                  </a:txBody>
                  <a:tcPr anchor="ctr"/>
                </a:tc>
                <a:tc>
                  <a:txBody>
                    <a:bodyPr/>
                    <a:lstStyle/>
                    <a:p>
                      <a:pPr>
                        <a:buNone/>
                      </a:pPr>
                      <a:r>
                        <a:rPr lang="en-IN"/>
                        <a:t>1.41%</a:t>
                      </a:r>
                    </a:p>
                  </a:txBody>
                  <a:tcPr anchor="ctr"/>
                </a:tc>
                <a:tc>
                  <a:txBody>
                    <a:bodyPr/>
                    <a:lstStyle/>
                    <a:p>
                      <a:pPr>
                        <a:buNone/>
                      </a:pPr>
                      <a:r>
                        <a:rPr lang="en-IN"/>
                        <a:t>98.59%</a:t>
                      </a:r>
                    </a:p>
                  </a:txBody>
                  <a:tcPr anchor="ctr"/>
                </a:tc>
                <a:extLst>
                  <a:ext uri="{0D108BD9-81ED-4DB2-BD59-A6C34878D82A}">
                    <a16:rowId xmlns:a16="http://schemas.microsoft.com/office/drawing/2014/main" val="1921343229"/>
                  </a:ext>
                </a:extLst>
              </a:tr>
              <a:tr h="370840">
                <a:tc>
                  <a:txBody>
                    <a:bodyPr/>
                    <a:lstStyle/>
                    <a:p>
                      <a:pPr>
                        <a:buNone/>
                      </a:pPr>
                      <a:r>
                        <a:rPr lang="en-IN"/>
                        <a:t>TRAIN.4 (Fine-tuned)</a:t>
                      </a:r>
                    </a:p>
                  </a:txBody>
                  <a:tcPr anchor="ctr"/>
                </a:tc>
                <a:tc>
                  <a:txBody>
                    <a:bodyPr/>
                    <a:lstStyle/>
                    <a:p>
                      <a:pPr>
                        <a:buNone/>
                      </a:pPr>
                      <a:r>
                        <a:rPr lang="en-IN"/>
                        <a:t>1.14%</a:t>
                      </a:r>
                    </a:p>
                  </a:txBody>
                  <a:tcPr anchor="ctr"/>
                </a:tc>
                <a:tc>
                  <a:txBody>
                    <a:bodyPr/>
                    <a:lstStyle/>
                    <a:p>
                      <a:pPr>
                        <a:buNone/>
                      </a:pPr>
                      <a:r>
                        <a:rPr lang="en-IN" b="1" dirty="0"/>
                        <a:t>98.86%</a:t>
                      </a:r>
                      <a:endParaRPr lang="en-IN" dirty="0"/>
                    </a:p>
                  </a:txBody>
                  <a:tcPr anchor="ctr"/>
                </a:tc>
                <a:extLst>
                  <a:ext uri="{0D108BD9-81ED-4DB2-BD59-A6C34878D82A}">
                    <a16:rowId xmlns:a16="http://schemas.microsoft.com/office/drawing/2014/main" val="3757607581"/>
                  </a:ext>
                </a:extLst>
              </a:tr>
            </a:tbl>
          </a:graphicData>
        </a:graphic>
      </p:graphicFrame>
      <p:sp>
        <p:nvSpPr>
          <p:cNvPr id="6" name="TextBox 5">
            <a:extLst>
              <a:ext uri="{FF2B5EF4-FFF2-40B4-BE49-F238E27FC236}">
                <a16:creationId xmlns:a16="http://schemas.microsoft.com/office/drawing/2014/main" id="{04DA3AE3-6D5C-FDB6-55FA-4809E376407D}"/>
              </a:ext>
            </a:extLst>
          </p:cNvPr>
          <p:cNvSpPr txBox="1"/>
          <p:nvPr/>
        </p:nvSpPr>
        <p:spPr>
          <a:xfrm>
            <a:off x="762000" y="5298122"/>
            <a:ext cx="6565836" cy="369332"/>
          </a:xfrm>
          <a:prstGeom prst="rect">
            <a:avLst/>
          </a:prstGeom>
          <a:noFill/>
        </p:spPr>
        <p:txBody>
          <a:bodyPr wrap="none" rtlCol="0">
            <a:spAutoFit/>
          </a:bodyPr>
          <a:lstStyle/>
          <a:p>
            <a:r>
              <a:rPr lang="en-US" b="1" dirty="0"/>
              <a:t>Best Performance: 98.86% Accuracy</a:t>
            </a:r>
            <a:r>
              <a:rPr lang="en-US" dirty="0"/>
              <a:t> (after TRAIN.4 fine-tuning)</a:t>
            </a:r>
            <a:endParaRPr lang="en-IN" dirty="0"/>
          </a:p>
        </p:txBody>
      </p:sp>
    </p:spTree>
    <p:extLst>
      <p:ext uri="{BB962C8B-B14F-4D97-AF65-F5344CB8AC3E}">
        <p14:creationId xmlns:p14="http://schemas.microsoft.com/office/powerpoint/2010/main" val="11247146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0E9B55-4FC5-90DD-762D-39A8B7A911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DF69B6-E69C-EF1B-19FB-991228DD6605}"/>
              </a:ext>
            </a:extLst>
          </p:cNvPr>
          <p:cNvSpPr>
            <a:spLocks noGrp="1"/>
          </p:cNvSpPr>
          <p:nvPr>
            <p:ph type="title"/>
          </p:nvPr>
        </p:nvSpPr>
        <p:spPr/>
        <p:txBody>
          <a:bodyPr>
            <a:normAutofit/>
          </a:bodyPr>
          <a:lstStyle/>
          <a:p>
            <a:r>
              <a:rPr lang="en-IN" sz="3600" dirty="0"/>
              <a:t>Comparative Analysis</a:t>
            </a:r>
          </a:p>
        </p:txBody>
      </p:sp>
      <p:pic>
        <p:nvPicPr>
          <p:cNvPr id="4" name="Picture 3" descr="A blue and red text on a black background&#10;&#10;AI-generated content may be incorrect.">
            <a:extLst>
              <a:ext uri="{FF2B5EF4-FFF2-40B4-BE49-F238E27FC236}">
                <a16:creationId xmlns:a16="http://schemas.microsoft.com/office/drawing/2014/main" id="{ED3B7FDB-CF6F-F918-79EE-5F96B10207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16422" y="657542"/>
            <a:ext cx="1991079" cy="664997"/>
          </a:xfrm>
          <a:prstGeom prst="rect">
            <a:avLst/>
          </a:prstGeom>
        </p:spPr>
      </p:pic>
      <p:graphicFrame>
        <p:nvGraphicFramePr>
          <p:cNvPr id="6" name="Content Placeholder 5">
            <a:extLst>
              <a:ext uri="{FF2B5EF4-FFF2-40B4-BE49-F238E27FC236}">
                <a16:creationId xmlns:a16="http://schemas.microsoft.com/office/drawing/2014/main" id="{BF3FC229-B965-6705-A610-A7354E2F106C}"/>
              </a:ext>
            </a:extLst>
          </p:cNvPr>
          <p:cNvGraphicFramePr>
            <a:graphicFrameLocks noGrp="1"/>
          </p:cNvGraphicFramePr>
          <p:nvPr>
            <p:ph idx="1"/>
            <p:extLst>
              <p:ext uri="{D42A27DB-BD31-4B8C-83A1-F6EECF244321}">
                <p14:modId xmlns:p14="http://schemas.microsoft.com/office/powerpoint/2010/main" val="1877876457"/>
              </p:ext>
            </p:extLst>
          </p:nvPr>
        </p:nvGraphicFramePr>
        <p:xfrm>
          <a:off x="838200" y="1825625"/>
          <a:ext cx="10515597" cy="2595880"/>
        </p:xfrm>
        <a:graphic>
          <a:graphicData uri="http://schemas.openxmlformats.org/drawingml/2006/table">
            <a:tbl>
              <a:tblPr firstRow="1" bandRow="1">
                <a:tableStyleId>{5C22544A-7EE6-4342-B048-85BDC9FD1C3A}</a:tableStyleId>
              </a:tblPr>
              <a:tblGrid>
                <a:gridCol w="3505199">
                  <a:extLst>
                    <a:ext uri="{9D8B030D-6E8A-4147-A177-3AD203B41FA5}">
                      <a16:colId xmlns:a16="http://schemas.microsoft.com/office/drawing/2014/main" val="620875489"/>
                    </a:ext>
                  </a:extLst>
                </a:gridCol>
                <a:gridCol w="3505199">
                  <a:extLst>
                    <a:ext uri="{9D8B030D-6E8A-4147-A177-3AD203B41FA5}">
                      <a16:colId xmlns:a16="http://schemas.microsoft.com/office/drawing/2014/main" val="4128017130"/>
                    </a:ext>
                  </a:extLst>
                </a:gridCol>
                <a:gridCol w="3505199">
                  <a:extLst>
                    <a:ext uri="{9D8B030D-6E8A-4147-A177-3AD203B41FA5}">
                      <a16:colId xmlns:a16="http://schemas.microsoft.com/office/drawing/2014/main" val="3524345530"/>
                    </a:ext>
                  </a:extLst>
                </a:gridCol>
              </a:tblGrid>
              <a:tr h="370840">
                <a:tc>
                  <a:txBody>
                    <a:bodyPr/>
                    <a:lstStyle/>
                    <a:p>
                      <a:pPr>
                        <a:buNone/>
                      </a:pPr>
                      <a:r>
                        <a:rPr lang="en-IN" dirty="0"/>
                        <a:t>Metric</a:t>
                      </a:r>
                    </a:p>
                  </a:txBody>
                  <a:tcPr anchor="ctr"/>
                </a:tc>
                <a:tc>
                  <a:txBody>
                    <a:bodyPr/>
                    <a:lstStyle/>
                    <a:p>
                      <a:pPr>
                        <a:buNone/>
                      </a:pPr>
                      <a:r>
                        <a:rPr lang="en-IN"/>
                        <a:t>VGG16</a:t>
                      </a:r>
                    </a:p>
                  </a:txBody>
                  <a:tcPr anchor="ctr"/>
                </a:tc>
                <a:tc>
                  <a:txBody>
                    <a:bodyPr/>
                    <a:lstStyle/>
                    <a:p>
                      <a:pPr>
                        <a:buNone/>
                      </a:pPr>
                      <a:r>
                        <a:rPr lang="en-IN"/>
                        <a:t>FastAI ResNet18</a:t>
                      </a:r>
                    </a:p>
                  </a:txBody>
                  <a:tcPr anchor="ctr"/>
                </a:tc>
                <a:extLst>
                  <a:ext uri="{0D108BD9-81ED-4DB2-BD59-A6C34878D82A}">
                    <a16:rowId xmlns:a16="http://schemas.microsoft.com/office/drawing/2014/main" val="4014311011"/>
                  </a:ext>
                </a:extLst>
              </a:tr>
              <a:tr h="370840">
                <a:tc>
                  <a:txBody>
                    <a:bodyPr/>
                    <a:lstStyle/>
                    <a:p>
                      <a:pPr>
                        <a:buNone/>
                      </a:pPr>
                      <a:r>
                        <a:rPr lang="en-IN" b="1"/>
                        <a:t>Accuracy</a:t>
                      </a:r>
                      <a:endParaRPr lang="en-IN"/>
                    </a:p>
                  </a:txBody>
                  <a:tcPr anchor="ctr"/>
                </a:tc>
                <a:tc>
                  <a:txBody>
                    <a:bodyPr/>
                    <a:lstStyle/>
                    <a:p>
                      <a:pPr>
                        <a:buNone/>
                      </a:pPr>
                      <a:r>
                        <a:rPr lang="en-IN"/>
                        <a:t>88.43%</a:t>
                      </a:r>
                    </a:p>
                  </a:txBody>
                  <a:tcPr anchor="ctr"/>
                </a:tc>
                <a:tc>
                  <a:txBody>
                    <a:bodyPr/>
                    <a:lstStyle/>
                    <a:p>
                      <a:pPr>
                        <a:buNone/>
                      </a:pPr>
                      <a:r>
                        <a:rPr lang="en-IN"/>
                        <a:t>98.86%</a:t>
                      </a:r>
                    </a:p>
                  </a:txBody>
                  <a:tcPr anchor="ctr"/>
                </a:tc>
                <a:extLst>
                  <a:ext uri="{0D108BD9-81ED-4DB2-BD59-A6C34878D82A}">
                    <a16:rowId xmlns:a16="http://schemas.microsoft.com/office/drawing/2014/main" val="3671726302"/>
                  </a:ext>
                </a:extLst>
              </a:tr>
              <a:tr h="370840">
                <a:tc>
                  <a:txBody>
                    <a:bodyPr/>
                    <a:lstStyle/>
                    <a:p>
                      <a:pPr>
                        <a:buNone/>
                      </a:pPr>
                      <a:r>
                        <a:rPr lang="en-IN" b="1"/>
                        <a:t>Input Size</a:t>
                      </a:r>
                      <a:endParaRPr lang="en-IN"/>
                    </a:p>
                  </a:txBody>
                  <a:tcPr anchor="ctr"/>
                </a:tc>
                <a:tc>
                  <a:txBody>
                    <a:bodyPr/>
                    <a:lstStyle/>
                    <a:p>
                      <a:pPr>
                        <a:buNone/>
                      </a:pPr>
                      <a:r>
                        <a:rPr lang="en-IN"/>
                        <a:t>60×60</a:t>
                      </a:r>
                    </a:p>
                  </a:txBody>
                  <a:tcPr anchor="ctr"/>
                </a:tc>
                <a:tc>
                  <a:txBody>
                    <a:bodyPr/>
                    <a:lstStyle/>
                    <a:p>
                      <a:pPr>
                        <a:buNone/>
                      </a:pPr>
                      <a:r>
                        <a:rPr lang="en-IN"/>
                        <a:t>192×192</a:t>
                      </a:r>
                    </a:p>
                  </a:txBody>
                  <a:tcPr anchor="ctr"/>
                </a:tc>
                <a:extLst>
                  <a:ext uri="{0D108BD9-81ED-4DB2-BD59-A6C34878D82A}">
                    <a16:rowId xmlns:a16="http://schemas.microsoft.com/office/drawing/2014/main" val="83212820"/>
                  </a:ext>
                </a:extLst>
              </a:tr>
              <a:tr h="370840">
                <a:tc>
                  <a:txBody>
                    <a:bodyPr/>
                    <a:lstStyle/>
                    <a:p>
                      <a:pPr>
                        <a:buNone/>
                      </a:pPr>
                      <a:r>
                        <a:rPr lang="en-IN" b="1"/>
                        <a:t>Training Approach</a:t>
                      </a:r>
                      <a:endParaRPr lang="en-IN"/>
                    </a:p>
                  </a:txBody>
                  <a:tcPr anchor="ctr"/>
                </a:tc>
                <a:tc>
                  <a:txBody>
                    <a:bodyPr/>
                    <a:lstStyle/>
                    <a:p>
                      <a:pPr>
                        <a:buNone/>
                      </a:pPr>
                      <a:r>
                        <a:rPr lang="en-IN"/>
                        <a:t>Single dataset</a:t>
                      </a:r>
                    </a:p>
                  </a:txBody>
                  <a:tcPr anchor="ctr"/>
                </a:tc>
                <a:tc>
                  <a:txBody>
                    <a:bodyPr/>
                    <a:lstStyle/>
                    <a:p>
                      <a:pPr>
                        <a:buNone/>
                      </a:pPr>
                      <a:r>
                        <a:rPr lang="en-IN"/>
                        <a:t>Progressive (4 datasets)</a:t>
                      </a:r>
                    </a:p>
                  </a:txBody>
                  <a:tcPr anchor="ctr"/>
                </a:tc>
                <a:extLst>
                  <a:ext uri="{0D108BD9-81ED-4DB2-BD59-A6C34878D82A}">
                    <a16:rowId xmlns:a16="http://schemas.microsoft.com/office/drawing/2014/main" val="3956425615"/>
                  </a:ext>
                </a:extLst>
              </a:tr>
              <a:tr h="370840">
                <a:tc>
                  <a:txBody>
                    <a:bodyPr/>
                    <a:lstStyle/>
                    <a:p>
                      <a:pPr>
                        <a:buNone/>
                      </a:pPr>
                      <a:r>
                        <a:rPr lang="en-IN" b="1"/>
                        <a:t>Batch Size</a:t>
                      </a:r>
                      <a:endParaRPr lang="en-IN"/>
                    </a:p>
                  </a:txBody>
                  <a:tcPr anchor="ctr"/>
                </a:tc>
                <a:tc>
                  <a:txBody>
                    <a:bodyPr/>
                    <a:lstStyle/>
                    <a:p>
                      <a:pPr>
                        <a:buNone/>
                      </a:pPr>
                      <a:r>
                        <a:rPr lang="en-IN"/>
                        <a:t>32</a:t>
                      </a:r>
                    </a:p>
                  </a:txBody>
                  <a:tcPr anchor="ctr"/>
                </a:tc>
                <a:tc>
                  <a:txBody>
                    <a:bodyPr/>
                    <a:lstStyle/>
                    <a:p>
                      <a:pPr>
                        <a:buNone/>
                      </a:pPr>
                      <a:r>
                        <a:rPr lang="en-IN"/>
                        <a:t>64</a:t>
                      </a:r>
                    </a:p>
                  </a:txBody>
                  <a:tcPr anchor="ctr"/>
                </a:tc>
                <a:extLst>
                  <a:ext uri="{0D108BD9-81ED-4DB2-BD59-A6C34878D82A}">
                    <a16:rowId xmlns:a16="http://schemas.microsoft.com/office/drawing/2014/main" val="3382671308"/>
                  </a:ext>
                </a:extLst>
              </a:tr>
              <a:tr h="370840">
                <a:tc>
                  <a:txBody>
                    <a:bodyPr/>
                    <a:lstStyle/>
                    <a:p>
                      <a:pPr>
                        <a:buNone/>
                      </a:pPr>
                      <a:r>
                        <a:rPr lang="en-IN" b="1"/>
                        <a:t>Epochs</a:t>
                      </a:r>
                      <a:endParaRPr lang="en-IN"/>
                    </a:p>
                  </a:txBody>
                  <a:tcPr anchor="ctr"/>
                </a:tc>
                <a:tc>
                  <a:txBody>
                    <a:bodyPr/>
                    <a:lstStyle/>
                    <a:p>
                      <a:pPr>
                        <a:buNone/>
                      </a:pPr>
                      <a:r>
                        <a:rPr lang="en-IN"/>
                        <a:t>20</a:t>
                      </a:r>
                    </a:p>
                  </a:txBody>
                  <a:tcPr anchor="ctr"/>
                </a:tc>
                <a:tc>
                  <a:txBody>
                    <a:bodyPr/>
                    <a:lstStyle/>
                    <a:p>
                      <a:pPr>
                        <a:buNone/>
                      </a:pPr>
                      <a:r>
                        <a:rPr lang="en-US"/>
                        <a:t>1 per phase (4 phases)</a:t>
                      </a:r>
                    </a:p>
                  </a:txBody>
                  <a:tcPr anchor="ctr"/>
                </a:tc>
                <a:extLst>
                  <a:ext uri="{0D108BD9-81ED-4DB2-BD59-A6C34878D82A}">
                    <a16:rowId xmlns:a16="http://schemas.microsoft.com/office/drawing/2014/main" val="1775180304"/>
                  </a:ext>
                </a:extLst>
              </a:tr>
              <a:tr h="370840">
                <a:tc>
                  <a:txBody>
                    <a:bodyPr/>
                    <a:lstStyle/>
                    <a:p>
                      <a:pPr>
                        <a:buNone/>
                      </a:pPr>
                      <a:r>
                        <a:rPr lang="en-IN" b="1"/>
                        <a:t>Framework</a:t>
                      </a:r>
                      <a:endParaRPr lang="en-IN"/>
                    </a:p>
                  </a:txBody>
                  <a:tcPr anchor="ctr"/>
                </a:tc>
                <a:tc>
                  <a:txBody>
                    <a:bodyPr/>
                    <a:lstStyle/>
                    <a:p>
                      <a:pPr>
                        <a:buNone/>
                      </a:pPr>
                      <a:r>
                        <a:rPr lang="en-IN"/>
                        <a:t>TensorFlow/Keras</a:t>
                      </a:r>
                    </a:p>
                  </a:txBody>
                  <a:tcPr anchor="ctr"/>
                </a:tc>
                <a:tc>
                  <a:txBody>
                    <a:bodyPr/>
                    <a:lstStyle/>
                    <a:p>
                      <a:pPr>
                        <a:buNone/>
                      </a:pPr>
                      <a:r>
                        <a:rPr lang="en-IN" dirty="0" err="1"/>
                        <a:t>FastAI</a:t>
                      </a:r>
                      <a:r>
                        <a:rPr lang="en-IN" dirty="0"/>
                        <a:t>/</a:t>
                      </a:r>
                      <a:r>
                        <a:rPr lang="en-IN" dirty="0" err="1"/>
                        <a:t>PyTorch</a:t>
                      </a:r>
                      <a:endParaRPr lang="en-IN" dirty="0"/>
                    </a:p>
                  </a:txBody>
                  <a:tcPr anchor="ctr"/>
                </a:tc>
                <a:extLst>
                  <a:ext uri="{0D108BD9-81ED-4DB2-BD59-A6C34878D82A}">
                    <a16:rowId xmlns:a16="http://schemas.microsoft.com/office/drawing/2014/main" val="223729696"/>
                  </a:ext>
                </a:extLst>
              </a:tr>
            </a:tbl>
          </a:graphicData>
        </a:graphic>
      </p:graphicFrame>
      <p:sp>
        <p:nvSpPr>
          <p:cNvPr id="7" name="TextBox 6">
            <a:extLst>
              <a:ext uri="{FF2B5EF4-FFF2-40B4-BE49-F238E27FC236}">
                <a16:creationId xmlns:a16="http://schemas.microsoft.com/office/drawing/2014/main" id="{628C2F34-F8CA-439F-5B13-D2616060DB67}"/>
              </a:ext>
            </a:extLst>
          </p:cNvPr>
          <p:cNvSpPr txBox="1"/>
          <p:nvPr/>
        </p:nvSpPr>
        <p:spPr>
          <a:xfrm>
            <a:off x="838199" y="4648200"/>
            <a:ext cx="10515597" cy="1754326"/>
          </a:xfrm>
          <a:prstGeom prst="rect">
            <a:avLst/>
          </a:prstGeom>
          <a:noFill/>
        </p:spPr>
        <p:txBody>
          <a:bodyPr wrap="square" rtlCol="0">
            <a:spAutoFit/>
          </a:bodyPr>
          <a:lstStyle/>
          <a:p>
            <a:r>
              <a:rPr lang="en-US" b="1" dirty="0"/>
              <a:t>Key Insights:</a:t>
            </a:r>
            <a:endParaRPr lang="en-US" dirty="0"/>
          </a:p>
          <a:p>
            <a:r>
              <a:rPr lang="en-US" dirty="0" err="1"/>
              <a:t>FastAI</a:t>
            </a:r>
            <a:r>
              <a:rPr lang="en-US" dirty="0"/>
              <a:t> approach achieved 10.43% improvement</a:t>
            </a:r>
          </a:p>
          <a:p>
            <a:r>
              <a:rPr lang="en-US" dirty="0"/>
              <a:t>Higher resolution images (192×192) captured more features</a:t>
            </a:r>
          </a:p>
          <a:p>
            <a:r>
              <a:rPr lang="en-US" dirty="0"/>
              <a:t>Progressive training on augmented data improved generalization</a:t>
            </a:r>
          </a:p>
          <a:p>
            <a:r>
              <a:rPr lang="en-US" dirty="0"/>
              <a:t>Both models demonstrate strong waste classification capability</a:t>
            </a:r>
          </a:p>
          <a:p>
            <a:endParaRPr lang="en-IN" dirty="0"/>
          </a:p>
        </p:txBody>
      </p:sp>
    </p:spTree>
    <p:extLst>
      <p:ext uri="{BB962C8B-B14F-4D97-AF65-F5344CB8AC3E}">
        <p14:creationId xmlns:p14="http://schemas.microsoft.com/office/powerpoint/2010/main" val="7165346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31139-C720-1634-524F-A5E3A3295E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3265A2-0392-5A7D-FE3A-43DEA4C0C02A}"/>
              </a:ext>
            </a:extLst>
          </p:cNvPr>
          <p:cNvSpPr>
            <a:spLocks noGrp="1"/>
          </p:cNvSpPr>
          <p:nvPr>
            <p:ph type="title"/>
          </p:nvPr>
        </p:nvSpPr>
        <p:spPr/>
        <p:txBody>
          <a:bodyPr/>
          <a:lstStyle/>
          <a:p>
            <a:r>
              <a:rPr lang="en-US" dirty="0"/>
              <a:t>References (IN IEEE format)</a:t>
            </a:r>
            <a:endParaRPr lang="en-IN" dirty="0"/>
          </a:p>
        </p:txBody>
      </p:sp>
      <p:sp>
        <p:nvSpPr>
          <p:cNvPr id="3" name="Content Placeholder 2">
            <a:extLst>
              <a:ext uri="{FF2B5EF4-FFF2-40B4-BE49-F238E27FC236}">
                <a16:creationId xmlns:a16="http://schemas.microsoft.com/office/drawing/2014/main" id="{1F440CB0-784F-9866-9E38-0129D661EFE7}"/>
              </a:ext>
            </a:extLst>
          </p:cNvPr>
          <p:cNvSpPr>
            <a:spLocks noGrp="1"/>
          </p:cNvSpPr>
          <p:nvPr>
            <p:ph idx="1"/>
          </p:nvPr>
        </p:nvSpPr>
        <p:spPr/>
        <p:txBody>
          <a:bodyPr>
            <a:normAutofit fontScale="70000" lnSpcReduction="20000"/>
          </a:bodyPr>
          <a:lstStyle/>
          <a:p>
            <a:r>
              <a:rPr lang="en-IN" dirty="0"/>
              <a:t>[1] F. Zhang, W. Li, and Y. Chen, "Waste Classification using Deep Learning and Transfer Learning Approaches," </a:t>
            </a:r>
            <a:r>
              <a:rPr lang="en-IN" i="1" dirty="0"/>
              <a:t>IEEE Trans. on Sustainable Computing</a:t>
            </a:r>
            <a:r>
              <a:rPr lang="en-IN" dirty="0"/>
              <a:t>, vol. 5, no. 3, pp. 289-301, July 2020.</a:t>
            </a:r>
          </a:p>
          <a:p>
            <a:r>
              <a:rPr lang="en-IN" dirty="0"/>
              <a:t>[2] A. Kumar and R. Singh, "Automatic Waste Segregation using Image Processing and Machine Learning," in </a:t>
            </a:r>
            <a:r>
              <a:rPr lang="en-IN" i="1" dirty="0"/>
              <a:t>Proc. IEEE Int. Conf. on Computer Vision and Image Processing</a:t>
            </a:r>
            <a:r>
              <a:rPr lang="en-IN" dirty="0"/>
              <a:t>, Jaipur, India, 2019, pp. 145-150.</a:t>
            </a:r>
          </a:p>
          <a:p>
            <a:r>
              <a:rPr lang="en-IN" dirty="0"/>
              <a:t>[3] J. Park, S. Kim, and H. Lee, "Deep Learning Approach for Intelligent Waste Classification System," </a:t>
            </a:r>
            <a:r>
              <a:rPr lang="en-IN" i="1" dirty="0"/>
              <a:t>IEEE Access</a:t>
            </a:r>
            <a:r>
              <a:rPr lang="en-IN" dirty="0"/>
              <a:t>, vol. 9, pp. 54321-54335, 2021.</a:t>
            </a:r>
          </a:p>
          <a:p>
            <a:r>
              <a:rPr lang="en-IN" dirty="0"/>
              <a:t>[4] M. Ahmed and S. Rahman, "Transfer Learning for Waste Detection and Classification on Resource-Constrained Devices," in </a:t>
            </a:r>
            <a:r>
              <a:rPr lang="en-IN" i="1" dirty="0"/>
              <a:t>Proc. IEEE Int. Conf. on Sustainable Technology and Engineering</a:t>
            </a:r>
            <a:r>
              <a:rPr lang="en-IN" dirty="0"/>
              <a:t>, Dhaka, Bangladesh, 2022, pp. 234-239.</a:t>
            </a:r>
          </a:p>
          <a:p>
            <a:r>
              <a:rPr lang="en-IN" dirty="0"/>
              <a:t>[5] X. Liu, H. Wang, and Z. Zhang, "Multi-stage Deep Learning for Biodegradable Waste Recognition Using Data Augmentation," </a:t>
            </a:r>
            <a:r>
              <a:rPr lang="en-IN" i="1" dirty="0"/>
              <a:t>IEEE J. of Selected Topics in Applied Earth Observations</a:t>
            </a:r>
            <a:r>
              <a:rPr lang="en-IN" dirty="0"/>
              <a:t>, vol. 16, pp. 3421-3434, May 2023.</a:t>
            </a:r>
          </a:p>
          <a:p>
            <a:r>
              <a:rPr lang="en-IN" dirty="0"/>
              <a:t>[6] "Non and Biodegradable Waste Dataset," Kaggle. [Online]. Available: </a:t>
            </a:r>
            <a:r>
              <a:rPr lang="en-IN" dirty="0">
                <a:hlinkClick r:id="rId2"/>
              </a:rPr>
              <a:t>https://www.kaggle.com/datasets/rayhanzamzamy/non-and-biodegradable-waste-dataset</a:t>
            </a:r>
            <a:endParaRPr lang="en-IN" dirty="0"/>
          </a:p>
          <a:p>
            <a:endParaRPr lang="en-IN" dirty="0"/>
          </a:p>
        </p:txBody>
      </p:sp>
      <p:pic>
        <p:nvPicPr>
          <p:cNvPr id="4" name="Picture 3" descr="A blue and red text on a black background&#10;&#10;AI-generated content may be incorrect.">
            <a:extLst>
              <a:ext uri="{FF2B5EF4-FFF2-40B4-BE49-F238E27FC236}">
                <a16:creationId xmlns:a16="http://schemas.microsoft.com/office/drawing/2014/main" id="{7028D7E8-6455-7705-B5FF-590C26C70DF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16422" y="657542"/>
            <a:ext cx="1991079" cy="664997"/>
          </a:xfrm>
          <a:prstGeom prst="rect">
            <a:avLst/>
          </a:prstGeom>
        </p:spPr>
      </p:pic>
    </p:spTree>
    <p:extLst>
      <p:ext uri="{BB962C8B-B14F-4D97-AF65-F5344CB8AC3E}">
        <p14:creationId xmlns:p14="http://schemas.microsoft.com/office/powerpoint/2010/main" val="3542469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135B55F-2C27-C5B5-D043-0F8BE0AF434B}"/>
              </a:ext>
            </a:extLst>
          </p:cNvPr>
          <p:cNvSpPr>
            <a:spLocks noGrp="1"/>
          </p:cNvSpPr>
          <p:nvPr>
            <p:ph idx="1"/>
          </p:nvPr>
        </p:nvSpPr>
        <p:spPr/>
        <p:txBody>
          <a:bodyPr/>
          <a:lstStyle/>
          <a:p>
            <a:r>
              <a:rPr lang="en-US" dirty="0"/>
              <a:t>Thank YOU</a:t>
            </a:r>
          </a:p>
          <a:p>
            <a:endParaRPr lang="en-IN" dirty="0"/>
          </a:p>
        </p:txBody>
      </p:sp>
      <p:pic>
        <p:nvPicPr>
          <p:cNvPr id="4" name="Picture 3">
            <a:extLst>
              <a:ext uri="{FF2B5EF4-FFF2-40B4-BE49-F238E27FC236}">
                <a16:creationId xmlns:a16="http://schemas.microsoft.com/office/drawing/2014/main" id="{BE656419-66D4-4BC4-90F4-0AAA3F18DDE0}"/>
              </a:ext>
            </a:extLst>
          </p:cNvPr>
          <p:cNvPicPr>
            <a:picLocks noChangeAspect="1"/>
          </p:cNvPicPr>
          <p:nvPr/>
        </p:nvPicPr>
        <p:blipFill>
          <a:blip r:embed="rId2"/>
          <a:stretch>
            <a:fillRect/>
          </a:stretch>
        </p:blipFill>
        <p:spPr>
          <a:xfrm>
            <a:off x="919765" y="2419350"/>
            <a:ext cx="5014310" cy="3757613"/>
          </a:xfrm>
          <a:prstGeom prst="rect">
            <a:avLst/>
          </a:prstGeom>
        </p:spPr>
      </p:pic>
      <p:pic>
        <p:nvPicPr>
          <p:cNvPr id="6" name="Picture 5">
            <a:extLst>
              <a:ext uri="{FF2B5EF4-FFF2-40B4-BE49-F238E27FC236}">
                <a16:creationId xmlns:a16="http://schemas.microsoft.com/office/drawing/2014/main" id="{455C78FA-50A3-13B7-8FBE-353C1E7764B2}"/>
              </a:ext>
            </a:extLst>
          </p:cNvPr>
          <p:cNvPicPr>
            <a:picLocks noChangeAspect="1"/>
          </p:cNvPicPr>
          <p:nvPr/>
        </p:nvPicPr>
        <p:blipFill>
          <a:blip r:embed="rId3"/>
          <a:stretch>
            <a:fillRect/>
          </a:stretch>
        </p:blipFill>
        <p:spPr>
          <a:xfrm>
            <a:off x="6015640" y="2419349"/>
            <a:ext cx="5030796" cy="3757613"/>
          </a:xfrm>
          <a:prstGeom prst="rect">
            <a:avLst/>
          </a:prstGeom>
        </p:spPr>
      </p:pic>
    </p:spTree>
    <p:extLst>
      <p:ext uri="{BB962C8B-B14F-4D97-AF65-F5344CB8AC3E}">
        <p14:creationId xmlns:p14="http://schemas.microsoft.com/office/powerpoint/2010/main" val="24399017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335</TotalTime>
  <Words>1304</Words>
  <Application>Microsoft Office PowerPoint</Application>
  <PresentationFormat>Widescreen</PresentationFormat>
  <Paragraphs>215</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Aptos</vt:lpstr>
      <vt:lpstr>Aptos Display</vt:lpstr>
      <vt:lpstr>Arial</vt:lpstr>
      <vt:lpstr>Office Theme</vt:lpstr>
      <vt:lpstr> </vt:lpstr>
      <vt:lpstr>Contents</vt:lpstr>
      <vt:lpstr>Introduction</vt:lpstr>
      <vt:lpstr>Literature Review  (NOTE: Add Minimum 5 Research Papers) </vt:lpstr>
      <vt:lpstr>Dataset</vt:lpstr>
      <vt:lpstr>Workflow</vt:lpstr>
      <vt:lpstr>Methodology - Exploratory Data Analysis (EDA)</vt:lpstr>
      <vt:lpstr>Model 1 - VGG16 Architecture</vt:lpstr>
      <vt:lpstr>VGG16 Performance</vt:lpstr>
      <vt:lpstr>Model 2 - FastAI with ResNet18</vt:lpstr>
      <vt:lpstr>FastAI Performance</vt:lpstr>
      <vt:lpstr>Comparative Analysis</vt:lpstr>
      <vt:lpstr>References (IN IEEE format)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Amit Chauhan</dc:creator>
  <cp:lastModifiedBy>Aakansh Tandon</cp:lastModifiedBy>
  <cp:revision>3</cp:revision>
  <dcterms:created xsi:type="dcterms:W3CDTF">2025-11-11T10:37:31Z</dcterms:created>
  <dcterms:modified xsi:type="dcterms:W3CDTF">2025-11-19T20:41:56Z</dcterms:modified>
</cp:coreProperties>
</file>